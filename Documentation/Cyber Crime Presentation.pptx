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67" r:id="rId1"/>
  </p:sldMasterIdLst>
  <p:notesMasterIdLst>
    <p:notesMasterId r:id="rId32"/>
  </p:notesMasterIdLst>
  <p:sldIdLst>
    <p:sldId id="256" r:id="rId2"/>
    <p:sldId id="258" r:id="rId3"/>
    <p:sldId id="282" r:id="rId4"/>
    <p:sldId id="260" r:id="rId5"/>
    <p:sldId id="279" r:id="rId6"/>
    <p:sldId id="261" r:id="rId7"/>
    <p:sldId id="257" r:id="rId8"/>
    <p:sldId id="265" r:id="rId9"/>
    <p:sldId id="263" r:id="rId10"/>
    <p:sldId id="266" r:id="rId11"/>
    <p:sldId id="267" r:id="rId12"/>
    <p:sldId id="268" r:id="rId13"/>
    <p:sldId id="269" r:id="rId14"/>
    <p:sldId id="283" r:id="rId15"/>
    <p:sldId id="270" r:id="rId16"/>
    <p:sldId id="287" r:id="rId17"/>
    <p:sldId id="285" r:id="rId18"/>
    <p:sldId id="264" r:id="rId19"/>
    <p:sldId id="275" r:id="rId20"/>
    <p:sldId id="274" r:id="rId21"/>
    <p:sldId id="273" r:id="rId22"/>
    <p:sldId id="288" r:id="rId23"/>
    <p:sldId id="272" r:id="rId24"/>
    <p:sldId id="284" r:id="rId25"/>
    <p:sldId id="271" r:id="rId26"/>
    <p:sldId id="281" r:id="rId27"/>
    <p:sldId id="289" r:id="rId28"/>
    <p:sldId id="277" r:id="rId29"/>
    <p:sldId id="280" r:id="rId30"/>
    <p:sldId id="278" r:id="rId3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807" dt="2026-10-06T22:37:08.935"/>
    <p1510:client id="{234919F2-7D82-8D22-3951-954AC678DB18}" v="231" dt="2026-10-06T12:39:00.303"/>
    <p1510:client id="{2CF96F3D-AAC6-8A35-4A4E-733E8071196E}" v="322" dt="2026-10-06T20:45:53.972"/>
    <p1510:client id="{33F89A5F-5897-4CC0-B044-51A71250D8DB}" v="18" dt="2026-10-06T15:36:20.729"/>
    <p1510:client id="{58A181FF-AD48-C10B-98AD-051335B65A18}" v="333" dt="2026-10-06T22:50:45.678"/>
    <p1510:client id="{5D5F378B-A317-2C5E-3C1E-0C8E64850540}" v="35" dt="2026-10-06T21:39:44.057"/>
    <p1510:client id="{6B12EB83-C77C-FA3A-317F-7204C88D711A}" v="15" dt="2026-10-05T21:31:39.745"/>
    <p1510:client id="{706FFF3C-9D5A-4200-8AB4-228A2085D844}" v="2709" dt="2026-10-05T12:09:58.718"/>
    <p1510:client id="{853E24FD-35DF-36FA-D851-F3142683056D}" v="1" dt="2026-10-05T16:44:59.416"/>
    <p1510:client id="{991A36DD-5C35-93A4-A917-496773B8D310}" v="5" dt="2026-10-07T11:17:20.382"/>
    <p1510:client id="{9EA3C277-ACA0-E051-AF8D-1EF432671582}" v="147" dt="2026-10-06T16:26:03.979"/>
    <p1510:client id="{A098FBB9-F69A-48AD-616E-C811D4392401}" v="123" dt="2026-10-06T22:29:21.355"/>
    <p1510:client id="{A5CF425F-93D9-6834-10B1-2ECEF55354A6}" v="79" dt="2026-10-07T05:05:39.819"/>
    <p1510:client id="{B23338A0-122C-4766-A608-740DB08E5A75}" v="369" dt="2026-10-06T13:01:44.025"/>
    <p1510:client id="{C745E23E-65B4-4763-A560-106F8E902AFC}" v="220" dt="2026-10-05T16:49:18.345"/>
    <p1510:client id="{F857207F-5105-A2CD-BFBC-9D88A8EE242C}" v="2080" dt="2026-10-06T16:30:04.391"/>
    <p1510:client id="{FCBBC4E4-BD7E-185F-9DB1-52B9F54380D7}" v="39" dt="2026-10-06T19:18:31.315"/>
    <p1510:client id="{FEE44873-82B5-459B-933D-B689C019B665}" v="61" dt="2026-10-07T11:22:40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FB7D5C1-13CD-43D7-BF59-B5377DFD6ED6}" type="datetimeFigureOut">
              <a:rPr lang="en-US" smtClean="0"/>
              <a:t>10/8/2026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E4CAFB-6005-4938-ABE9-0E13A7D020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5122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A461BEA-D913-4C59-8C52-4D85C429898F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041958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BABE80-CD02-4156-BE6F-97E577EDE77C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825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ADAC4E-E05F-4671-B458-E5A35E96775B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7628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A14CB5-DA79-491D-BF1A-00A06B79B857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2579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A613C-5D38-4EAB-990C-1302B526908F}" type="datetime1">
              <a:rPr lang="en-US" smtClean="0"/>
              <a:t>10/8/2026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46237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2719F6-093F-4E30-95CE-CC45039EAF34}" type="datetime1">
              <a:rPr lang="en-US" smtClean="0"/>
              <a:t>10/8/2026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191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D9E6FF-3C18-43B2-9068-88088AA36334}" type="datetime1">
              <a:rPr lang="en-US" smtClean="0"/>
              <a:t>10/8/2026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8860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E2EA9-7190-4D5D-9409-FEBD36680F31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086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8F70E8-759F-47C9-9055-4FC652FDD298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1442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06C0D-510C-4B31-AE38-1ECCE5B78D7B}" type="datetime1">
              <a:rPr lang="en-US" smtClean="0"/>
              <a:t>10/8/2026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76700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A4B5C7-A49A-47EF-AAB0-146FFC12E2D5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560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985D6-162E-4529-B5B6-6C45AFDE192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822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F9C660-9E8B-4EE5-9E9D-B2C337A76B37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74015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7BA579-FE6F-43DA-A8EC-54DE6903C769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285168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DDA88-27E7-49FC-B1C8-A6AB2553EF11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557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856CC6-A91F-452E-BCC1-4EE420838623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5393830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E4C6AC-554D-4936-9D52-F35B655E69B1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6747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38B2FF-A21D-4A2A-A813-403117A89568}" type="datetime1">
              <a:rPr lang="en-US" smtClean="0"/>
              <a:t>10/8/2026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r>
              <a:rPr lang="en-US"/>
              <a:t>Isuru Fernando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167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068" r:id="rId1"/>
    <p:sldLayoutId id="2147484069" r:id="rId2"/>
    <p:sldLayoutId id="2147484070" r:id="rId3"/>
    <p:sldLayoutId id="2147484071" r:id="rId4"/>
    <p:sldLayoutId id="2147484072" r:id="rId5"/>
    <p:sldLayoutId id="2147484073" r:id="rId6"/>
    <p:sldLayoutId id="2147484074" r:id="rId7"/>
    <p:sldLayoutId id="2147484075" r:id="rId8"/>
    <p:sldLayoutId id="2147484076" r:id="rId9"/>
    <p:sldLayoutId id="2147484077" r:id="rId10"/>
    <p:sldLayoutId id="2147484078" r:id="rId11"/>
    <p:sldLayoutId id="2147484079" r:id="rId12"/>
    <p:sldLayoutId id="2147484080" r:id="rId13"/>
    <p:sldLayoutId id="2147484081" r:id="rId14"/>
    <p:sldLayoutId id="2147484082" r:id="rId15"/>
    <p:sldLayoutId id="2147484083" r:id="rId16"/>
    <p:sldLayoutId id="2147484084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exploit.py/" TargetMode="Externa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wstg.owasp.org/v4.2/4-Web_Application_Security_Testing/07-Input_Validation_Testing/17-Testing_for_Host_Header_Injection/" TargetMode="External"/><Relationship Id="rId7" Type="http://schemas.openxmlformats.org/officeDocument/2006/relationships/hyperlink" Target="https://emb3d.mitre.org/mitigations/MID-075.html" TargetMode="External"/><Relationship Id="rId2" Type="http://schemas.openxmlformats.org/officeDocument/2006/relationships/hyperlink" Target="https://top10.owasp.org/2021/A01_2021-Broken_Access_Control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portswigger.net/research/web-cache-entanglement" TargetMode="External"/><Relationship Id="rId5" Type="http://schemas.openxmlformats.org/officeDocument/2006/relationships/hyperlink" Target="https://portswigger.net/web-security/web-cache-poisoning" TargetMode="External"/><Relationship Id="rId4" Type="http://schemas.openxmlformats.org/officeDocument/2006/relationships/hyperlink" Target="https://knowledge-base.secureflag.com/vulnerabilities/security_misconfiguration/web_cache_poisoning_vulnerability.html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D1E5586-8BB5-40F6-96C3-2E87DD7CE5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9" y="989326"/>
            <a:ext cx="6774337" cy="3056283"/>
          </a:xfrm>
        </p:spPr>
        <p:txBody>
          <a:bodyPr>
            <a:normAutofit/>
          </a:bodyPr>
          <a:lstStyle/>
          <a:p>
            <a:pPr algn="ctr"/>
            <a:r>
              <a:rPr lang="en-US" sz="6000" b="1">
                <a:latin typeface="Calibri"/>
                <a:ea typeface="Calibri"/>
                <a:cs typeface="Calibri"/>
              </a:rPr>
              <a:t>Path Traversal and Web Cache Poisoning</a:t>
            </a:r>
            <a:r>
              <a:rPr lang="en-US" sz="600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78562" y="4379040"/>
            <a:ext cx="3293781" cy="666861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ea typeface="Calibri"/>
                <a:cs typeface="Calibri"/>
              </a:rPr>
              <a:t>Assignment Group 25</a:t>
            </a:r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8A832D40-B9E2-4CE7-9E0A-B35591EA20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845629" y="3810000"/>
            <a:ext cx="500743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82C1374-B9E9-91E5-AE01-D3C92C7FEA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3201" y="680386"/>
            <a:ext cx="3549716" cy="4995333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Group Members and Primary Responsibilities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9F01FA16-7992-2730-163E-66DF6B3E56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9300340"/>
              </p:ext>
            </p:extLst>
          </p:nvPr>
        </p:nvGraphicFramePr>
        <p:xfrm>
          <a:off x="4808601" y="1035906"/>
          <a:ext cx="6545201" cy="4639813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1372106">
                  <a:extLst>
                    <a:ext uri="{9D8B030D-6E8A-4147-A177-3AD203B41FA5}">
                      <a16:colId xmlns:a16="http://schemas.microsoft.com/office/drawing/2014/main" val="1605327646"/>
                    </a:ext>
                  </a:extLst>
                </a:gridCol>
                <a:gridCol w="3387044">
                  <a:extLst>
                    <a:ext uri="{9D8B030D-6E8A-4147-A177-3AD203B41FA5}">
                      <a16:colId xmlns:a16="http://schemas.microsoft.com/office/drawing/2014/main" val="46804688"/>
                    </a:ext>
                  </a:extLst>
                </a:gridCol>
                <a:gridCol w="1786051">
                  <a:extLst>
                    <a:ext uri="{9D8B030D-6E8A-4147-A177-3AD203B41FA5}">
                      <a16:colId xmlns:a16="http://schemas.microsoft.com/office/drawing/2014/main" val="522432075"/>
                    </a:ext>
                  </a:extLst>
                </a:gridCol>
              </a:tblGrid>
              <a:tr h="442840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Member</a:t>
                      </a:r>
                      <a:endParaRPr lang="en-US" sz="1600" dirty="0">
                        <a:effectLst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Primary Responsibilities</a:t>
                      </a:r>
                      <a:endParaRPr lang="en-US" sz="1600" dirty="0">
                        <a:effectLst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Estimated effort</a:t>
                      </a:r>
                      <a:endParaRPr lang="en-US" sz="1600" dirty="0">
                        <a:effectLst/>
                      </a:endParaRPr>
                    </a:p>
                  </a:txBody>
                  <a:tcPr marL="81166" marR="81166" marT="81166" marB="81166"/>
                </a:tc>
                <a:extLst>
                  <a:ext uri="{0D108BD9-81ED-4DB2-BD59-A6C34878D82A}">
                    <a16:rowId xmlns:a16="http://schemas.microsoft.com/office/drawing/2014/main" val="1971526612"/>
                  </a:ext>
                </a:extLst>
              </a:tr>
              <a:tr h="114411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Isuru</a:t>
                      </a: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buNone/>
                      </a:pPr>
                      <a:r>
                        <a:rPr lang="en-GB" sz="1600" dirty="0">
                          <a:effectLst/>
                          <a:latin typeface="+mn-lt"/>
                          <a:ea typeface="Arial" panose="020B0604020202020204" pitchFamily="34" charset="0"/>
                        </a:rPr>
                        <a:t>Vulnerable code and exploit script of Path Traversal Vulnerability, project board setup, timeline management and project management.</a:t>
                      </a:r>
                      <a:endParaRPr lang="en-US" sz="1600" dirty="0">
                        <a:effectLst/>
                        <a:latin typeface="+mn-lt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>
                          <a:effectLst/>
                          <a:latin typeface="+mn-lt"/>
                        </a:rPr>
                        <a:t>25%</a:t>
                      </a:r>
                      <a:br>
                        <a:rPr lang="en-US" sz="1600">
                          <a:effectLst/>
                          <a:latin typeface="+mn-lt"/>
                        </a:rPr>
                      </a:b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extLst>
                  <a:ext uri="{0D108BD9-81ED-4DB2-BD59-A6C34878D82A}">
                    <a16:rowId xmlns:a16="http://schemas.microsoft.com/office/drawing/2014/main" val="3319403180"/>
                  </a:ext>
                </a:extLst>
              </a:tr>
              <a:tr h="91035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Manodya</a:t>
                      </a:r>
                      <a:endParaRPr lang="en-US" sz="1600" err="1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Vulnerable code and exploit script of Web Cache Poisoning, Report structure and consolidation.</a:t>
                      </a: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US" sz="1600" u="none" strike="noStrike" noProof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25%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extLst>
                  <a:ext uri="{0D108BD9-81ED-4DB2-BD59-A6C34878D82A}">
                    <a16:rowId xmlns:a16="http://schemas.microsoft.com/office/drawing/2014/main" val="3712856604"/>
                  </a:ext>
                </a:extLst>
              </a:tr>
              <a:tr h="910354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Sasmitha </a:t>
                      </a:r>
                      <a:endParaRPr lang="en-US" sz="160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Mitigated code for Path Traversal, Mitigated code for Web Cache Poisoning.</a:t>
                      </a: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25%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extLst>
                  <a:ext uri="{0D108BD9-81ED-4DB2-BD59-A6C34878D82A}">
                    <a16:rowId xmlns:a16="http://schemas.microsoft.com/office/drawing/2014/main" val="2866411153"/>
                  </a:ext>
                </a:extLst>
              </a:tr>
              <a:tr h="114411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600" u="none" strike="noStrike" err="1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Theekshana</a:t>
                      </a:r>
                      <a:endParaRPr lang="en-US" sz="1600" err="1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GB" sz="16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Detection and Tracing of Path Traversal and Web Cache Poisoning, Verification of the mitigated code.</a:t>
                      </a: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u="none" strike="noStrike" noProof="0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25%</a:t>
                      </a:r>
                      <a:br>
                        <a:rPr lang="en-US" sz="1600" dirty="0">
                          <a:effectLst/>
                          <a:latin typeface="+mn-lt"/>
                        </a:rPr>
                      </a:br>
                      <a:endParaRPr lang="en-US" sz="1600" dirty="0">
                        <a:effectLst/>
                        <a:latin typeface="+mn-lt"/>
                      </a:endParaRPr>
                    </a:p>
                  </a:txBody>
                  <a:tcPr marL="81166" marR="81166" marT="81166" marB="81166"/>
                </a:tc>
                <a:extLst>
                  <a:ext uri="{0D108BD9-81ED-4DB2-BD59-A6C34878D82A}">
                    <a16:rowId xmlns:a16="http://schemas.microsoft.com/office/drawing/2014/main" val="6220264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48197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A0BFE-77FE-F964-3C8D-1302A8208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291FD9E-FC53-FD06-9C08-740167FD5D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425DC21-CDF9-7655-0AD4-461356138B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B36C1829-C311-8EC6-A957-EEE6D1ADA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283" y="3176472"/>
            <a:ext cx="3530444" cy="2630004"/>
          </a:xfrm>
        </p:spPr>
        <p:txBody>
          <a:bodyPr>
            <a:no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Project timeline and Tools used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225AB6-04C6-E24B-66F1-F048CA7C11F8}"/>
              </a:ext>
            </a:extLst>
          </p:cNvPr>
          <p:cNvSpPr txBox="1"/>
          <p:nvPr/>
        </p:nvSpPr>
        <p:spPr>
          <a:xfrm>
            <a:off x="374105" y="472889"/>
            <a:ext cx="1951589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ea typeface="Calibri"/>
                <a:cs typeface="Calibri"/>
              </a:rPr>
              <a:t>Set-Up and Research</a:t>
            </a:r>
          </a:p>
          <a:p>
            <a:r>
              <a:rPr lang="en-US" sz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23 August - 25 August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D501860-208A-2E65-E3DE-3AB78382355B}"/>
              </a:ext>
            </a:extLst>
          </p:cNvPr>
          <p:cNvSpPr txBox="1"/>
          <p:nvPr/>
        </p:nvSpPr>
        <p:spPr>
          <a:xfrm>
            <a:off x="929288" y="1152433"/>
            <a:ext cx="3383281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of the Vulnerable codes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26 August - 17 September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15359FD-A1AD-34C7-8931-D56B80CFCB55}"/>
              </a:ext>
            </a:extLst>
          </p:cNvPr>
          <p:cNvSpPr txBox="1"/>
          <p:nvPr/>
        </p:nvSpPr>
        <p:spPr>
          <a:xfrm>
            <a:off x="2306030" y="1923305"/>
            <a:ext cx="304316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Development of  the Exploit codes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17 September - 18 September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3311201-E48A-FA47-FE0B-983173FD68CA}"/>
              </a:ext>
            </a:extLst>
          </p:cNvPr>
          <p:cNvSpPr txBox="1"/>
          <p:nvPr/>
        </p:nvSpPr>
        <p:spPr>
          <a:xfrm>
            <a:off x="3907316" y="2719441"/>
            <a:ext cx="2422233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Detection and Tracing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18 September - 22 September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AA6439A-B17A-F959-03AD-ACBE99BEC789}"/>
              </a:ext>
            </a:extLst>
          </p:cNvPr>
          <p:cNvSpPr txBox="1"/>
          <p:nvPr/>
        </p:nvSpPr>
        <p:spPr>
          <a:xfrm>
            <a:off x="6292566" y="4393431"/>
            <a:ext cx="3317320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Creating the report and presentation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25 September - 06 October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965AAA-96DB-F525-4F17-EE1D04CDA32F}"/>
              </a:ext>
            </a:extLst>
          </p:cNvPr>
          <p:cNvSpPr txBox="1"/>
          <p:nvPr/>
        </p:nvSpPr>
        <p:spPr>
          <a:xfrm>
            <a:off x="8502837" y="5147020"/>
            <a:ext cx="2194434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Review and submission</a:t>
            </a:r>
          </a:p>
          <a:p>
            <a:r>
              <a:rPr lang="en-US" sz="14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06 October - 08 October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04F4566-9C56-EDB2-734C-6804E6322871}"/>
              </a:ext>
            </a:extLst>
          </p:cNvPr>
          <p:cNvSpPr txBox="1"/>
          <p:nvPr/>
        </p:nvSpPr>
        <p:spPr>
          <a:xfrm>
            <a:off x="5329530" y="3551520"/>
            <a:ext cx="2753959" cy="55399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Creating the mitigation codes </a:t>
            </a:r>
          </a:p>
          <a:p>
            <a:r>
              <a:rPr lang="en-US" sz="14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22 September - 25 September</a:t>
            </a:r>
          </a:p>
        </p:txBody>
      </p:sp>
      <p:graphicFrame>
        <p:nvGraphicFramePr>
          <p:cNvPr id="36" name="Content Placeholder 4">
            <a:extLst>
              <a:ext uri="{FF2B5EF4-FFF2-40B4-BE49-F238E27FC236}">
                <a16:creationId xmlns:a16="http://schemas.microsoft.com/office/drawing/2014/main" id="{AFE709B5-A6AF-8219-7900-04087974015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96203431"/>
              </p:ext>
            </p:extLst>
          </p:nvPr>
        </p:nvGraphicFramePr>
        <p:xfrm>
          <a:off x="6010019" y="573435"/>
          <a:ext cx="5521155" cy="1626869"/>
        </p:xfrm>
        <a:graphic>
          <a:graphicData uri="http://schemas.openxmlformats.org/drawingml/2006/table">
            <a:tbl>
              <a:tblPr bandRow="1">
                <a:tableStyleId>{3C2FFA5D-87B4-456A-9821-1D502468CF0F}</a:tableStyleId>
              </a:tblPr>
              <a:tblGrid>
                <a:gridCol w="2954935">
                  <a:extLst>
                    <a:ext uri="{9D8B030D-6E8A-4147-A177-3AD203B41FA5}">
                      <a16:colId xmlns:a16="http://schemas.microsoft.com/office/drawing/2014/main" val="230063562"/>
                    </a:ext>
                  </a:extLst>
                </a:gridCol>
                <a:gridCol w="2566220">
                  <a:extLst>
                    <a:ext uri="{9D8B030D-6E8A-4147-A177-3AD203B41FA5}">
                      <a16:colId xmlns:a16="http://schemas.microsoft.com/office/drawing/2014/main" val="114544453"/>
                    </a:ext>
                  </a:extLst>
                </a:gridCol>
              </a:tblGrid>
              <a:tr h="30816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Category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b="1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Tool Used</a:t>
                      </a:r>
                      <a:endParaRPr lang="en-US" sz="2000" b="1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extLst>
                  <a:ext uri="{0D108BD9-81ED-4DB2-BD59-A6C34878D82A}">
                    <a16:rowId xmlns:a16="http://schemas.microsoft.com/office/drawing/2014/main" val="4242606345"/>
                  </a:ext>
                </a:extLst>
              </a:tr>
              <a:tr h="308161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</a:rPr>
                        <a:t>Project management and </a:t>
                      </a:r>
                      <a:r>
                        <a:rPr lang="en-US" sz="1300" u="none" strike="noStrike" noProof="0">
                          <a:solidFill>
                            <a:srgbClr val="000000"/>
                          </a:solidFill>
                          <a:effectLst/>
                        </a:rPr>
                        <a:t>Version control</a:t>
                      </a:r>
                    </a:p>
                  </a:txBody>
                  <a:tcPr marL="84079" marR="84079" marT="56053" marB="56053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</a:rPr>
                        <a:t>GitHub 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extLst>
                  <a:ext uri="{0D108BD9-81ED-4DB2-BD59-A6C34878D82A}">
                    <a16:rowId xmlns:a16="http://schemas.microsoft.com/office/drawing/2014/main" val="522132747"/>
                  </a:ext>
                </a:extLst>
              </a:tr>
              <a:tr h="3267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</a:rPr>
                        <a:t>Meeting tracking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Toggl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extLst>
                  <a:ext uri="{0D108BD9-81ED-4DB2-BD59-A6C34878D82A}">
                    <a16:rowId xmlns:a16="http://schemas.microsoft.com/office/drawing/2014/main" val="3952260642"/>
                  </a:ext>
                </a:extLst>
              </a:tr>
              <a:tr h="32675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Communication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</a:rPr>
                        <a:t>Discord / WhatsApp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extLst>
                  <a:ext uri="{0D108BD9-81ED-4DB2-BD59-A6C34878D82A}">
                    <a16:rowId xmlns:a16="http://schemas.microsoft.com/office/drawing/2014/main" val="4118097040"/>
                  </a:ext>
                </a:extLst>
              </a:tr>
              <a:tr h="352899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>
                          <a:solidFill>
                            <a:srgbClr val="000000"/>
                          </a:solidFill>
                          <a:effectLst/>
                        </a:rPr>
                        <a:t>Logging / evidence capture</a:t>
                      </a:r>
                      <a:endParaRPr lang="en-US" sz="200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3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Python logging, server access logs</a:t>
                      </a:r>
                      <a:endParaRPr lang="en-US" sz="2000" dirty="0">
                        <a:solidFill>
                          <a:srgbClr val="000000"/>
                        </a:solidFill>
                        <a:effectLst/>
                      </a:endParaRPr>
                    </a:p>
                  </a:txBody>
                  <a:tcPr marL="84079" marR="84079" marT="56053" marB="56053"/>
                </a:tc>
                <a:extLst>
                  <a:ext uri="{0D108BD9-81ED-4DB2-BD59-A6C34878D82A}">
                    <a16:rowId xmlns:a16="http://schemas.microsoft.com/office/drawing/2014/main" val="3230216308"/>
                  </a:ext>
                </a:extLst>
              </a:tr>
            </a:tbl>
          </a:graphicData>
        </a:graphic>
      </p:graphicFrame>
      <p:sp>
        <p:nvSpPr>
          <p:cNvPr id="4" name="Arc 3">
            <a:extLst>
              <a:ext uri="{FF2B5EF4-FFF2-40B4-BE49-F238E27FC236}">
                <a16:creationId xmlns:a16="http://schemas.microsoft.com/office/drawing/2014/main" id="{808E35FD-3A11-DA38-1399-EBC0ECF8731A}"/>
              </a:ext>
            </a:extLst>
          </p:cNvPr>
          <p:cNvSpPr/>
          <p:nvPr/>
        </p:nvSpPr>
        <p:spPr>
          <a:xfrm>
            <a:off x="4895757" y="2254232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Arc 4">
            <a:extLst>
              <a:ext uri="{FF2B5EF4-FFF2-40B4-BE49-F238E27FC236}">
                <a16:creationId xmlns:a16="http://schemas.microsoft.com/office/drawing/2014/main" id="{C594634F-5671-2E82-CA6F-8C00B75F742D}"/>
              </a:ext>
            </a:extLst>
          </p:cNvPr>
          <p:cNvSpPr/>
          <p:nvPr/>
        </p:nvSpPr>
        <p:spPr>
          <a:xfrm>
            <a:off x="1900506" y="678167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Arc 5">
            <a:extLst>
              <a:ext uri="{FF2B5EF4-FFF2-40B4-BE49-F238E27FC236}">
                <a16:creationId xmlns:a16="http://schemas.microsoft.com/office/drawing/2014/main" id="{1AC830B6-78D7-217F-ABF2-52B243F5304D}"/>
              </a:ext>
            </a:extLst>
          </p:cNvPr>
          <p:cNvSpPr/>
          <p:nvPr/>
        </p:nvSpPr>
        <p:spPr>
          <a:xfrm>
            <a:off x="3848229" y="1456865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Arc 7">
            <a:extLst>
              <a:ext uri="{FF2B5EF4-FFF2-40B4-BE49-F238E27FC236}">
                <a16:creationId xmlns:a16="http://schemas.microsoft.com/office/drawing/2014/main" id="{5448FC08-59AB-17D1-0D62-372AE28D748A}"/>
              </a:ext>
            </a:extLst>
          </p:cNvPr>
          <p:cNvSpPr/>
          <p:nvPr/>
        </p:nvSpPr>
        <p:spPr>
          <a:xfrm>
            <a:off x="5855073" y="3079960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Arc 9">
            <a:extLst>
              <a:ext uri="{FF2B5EF4-FFF2-40B4-BE49-F238E27FC236}">
                <a16:creationId xmlns:a16="http://schemas.microsoft.com/office/drawing/2014/main" id="{26E29E79-B109-25DA-AE55-71B9DE64D823}"/>
              </a:ext>
            </a:extLst>
          </p:cNvPr>
          <p:cNvSpPr/>
          <p:nvPr/>
        </p:nvSpPr>
        <p:spPr>
          <a:xfrm>
            <a:off x="7609013" y="3927057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7B132D47-1010-C150-3BE8-23ED3DBAB420}"/>
              </a:ext>
            </a:extLst>
          </p:cNvPr>
          <p:cNvSpPr/>
          <p:nvPr/>
        </p:nvSpPr>
        <p:spPr>
          <a:xfrm>
            <a:off x="9135410" y="4670430"/>
            <a:ext cx="948952" cy="982447"/>
          </a:xfrm>
          <a:prstGeom prst="arc">
            <a:avLst>
              <a:gd name="adj1" fmla="val 16200000"/>
              <a:gd name="adj2" fmla="val 21284095"/>
            </a:avLst>
          </a:prstGeom>
          <a:ln>
            <a:solidFill>
              <a:schemeClr val="tx1"/>
            </a:solidFill>
            <a:headEnd type="none" w="med" len="med"/>
            <a:tailEnd type="arrow" w="med" len="med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1930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CD1F33A-C563-2234-8163-90AC7B7B24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Picture 237">
            <a:extLst>
              <a:ext uri="{FF2B5EF4-FFF2-40B4-BE49-F238E27FC236}">
                <a16:creationId xmlns:a16="http://schemas.microsoft.com/office/drawing/2014/main" id="{83543A10-04EE-49E0-A9DE-22E1FAB9A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2F026F3-9DFD-4C2B-1B89-BA3F1EF59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4549" y="568204"/>
            <a:ext cx="4815272" cy="2601011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800" b="1" dirty="0">
                <a:latin typeface="+mn-lt"/>
              </a:rPr>
              <a:t>Meetings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B26CAEE-5C82-0DBE-F9F4-037C4B2E98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8312" y="357263"/>
            <a:ext cx="4564730" cy="2974259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Picture 4" descr="A pie chart with text and numbers&#10;&#10;AI-generated content may be incorrect.">
            <a:extLst>
              <a:ext uri="{FF2B5EF4-FFF2-40B4-BE49-F238E27FC236}">
                <a16:creationId xmlns:a16="http://schemas.microsoft.com/office/drawing/2014/main" id="{3B37CA50-8B66-4F73-A24B-5CA7983020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6950" y="3688785"/>
            <a:ext cx="5550738" cy="2880313"/>
          </a:xfrm>
          <a:prstGeom prst="roundRect">
            <a:avLst>
              <a:gd name="adj" fmla="val 6267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01378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33953E-398A-8C4C-4FAC-C307A58AF1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F65CD9-825D-44BD-8681-D42D260D4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B2F64C47-BE0B-4DA4-A62F-C6922DD208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-2"/>
            <a:ext cx="4125976" cy="6858002"/>
          </a:xfrm>
          <a:custGeom>
            <a:avLst/>
            <a:gdLst>
              <a:gd name="connsiteX0" fmla="*/ 4125976 w 4125976"/>
              <a:gd name="connsiteY0" fmla="*/ 0 h 6858002"/>
              <a:gd name="connsiteX1" fmla="*/ 1300393 w 4125976"/>
              <a:gd name="connsiteY1" fmla="*/ 0 h 6858002"/>
              <a:gd name="connsiteX2" fmla="*/ 1300393 w 4125976"/>
              <a:gd name="connsiteY2" fmla="*/ 2 h 6858002"/>
              <a:gd name="connsiteX3" fmla="*/ 1155520 w 4125976"/>
              <a:gd name="connsiteY3" fmla="*/ 2 h 6858002"/>
              <a:gd name="connsiteX4" fmla="*/ 1074856 w 4125976"/>
              <a:gd name="connsiteY4" fmla="*/ 88573 h 6858002"/>
              <a:gd name="connsiteX5" fmla="*/ 0 w 4125976"/>
              <a:gd name="connsiteY5" fmla="*/ 3396600 h 6858002"/>
              <a:gd name="connsiteX6" fmla="*/ 1222540 w 4125976"/>
              <a:gd name="connsiteY6" fmla="*/ 6858002 h 6858002"/>
              <a:gd name="connsiteX7" fmla="*/ 4125598 w 4125976"/>
              <a:gd name="connsiteY7" fmla="*/ 6858002 h 6858002"/>
              <a:gd name="connsiteX8" fmla="*/ 4125976 w 4125976"/>
              <a:gd name="connsiteY8" fmla="*/ 6857600 h 68580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125976" h="6858002">
                <a:moveTo>
                  <a:pt x="4125976" y="0"/>
                </a:moveTo>
                <a:lnTo>
                  <a:pt x="1300393" y="0"/>
                </a:lnTo>
                <a:lnTo>
                  <a:pt x="1300393" y="2"/>
                </a:lnTo>
                <a:lnTo>
                  <a:pt x="1155520" y="2"/>
                </a:lnTo>
                <a:lnTo>
                  <a:pt x="1074856" y="88573"/>
                </a:lnTo>
                <a:cubicBezTo>
                  <a:pt x="422987" y="841260"/>
                  <a:pt x="0" y="2042663"/>
                  <a:pt x="0" y="3396600"/>
                </a:cubicBezTo>
                <a:cubicBezTo>
                  <a:pt x="0" y="4846647"/>
                  <a:pt x="488259" y="6121285"/>
                  <a:pt x="1222540" y="6858002"/>
                </a:cubicBezTo>
                <a:cubicBezTo>
                  <a:pt x="4125598" y="6858002"/>
                  <a:pt x="4125598" y="6858002"/>
                  <a:pt x="4125598" y="6858002"/>
                </a:cubicBezTo>
                <a:lnTo>
                  <a:pt x="4125976" y="6857600"/>
                </a:lnTo>
                <a:close/>
              </a:path>
            </a:pathLst>
          </a:custGeom>
          <a:blipFill dpi="0" rotWithShape="1">
            <a:blip r:embed="rId2"/>
            <a:srcRect/>
            <a:tile tx="0" ty="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8F0B6-2225-B4D1-A558-5E2E425CC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653298"/>
            <a:ext cx="2915768" cy="4995333"/>
          </a:xfrm>
        </p:spPr>
        <p:txBody>
          <a:bodyPr>
            <a:normAutofit/>
          </a:bodyPr>
          <a:lstStyle/>
          <a:p>
            <a:r>
              <a:rPr lang="en-US" sz="44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Evidence of Version Control</a:t>
            </a: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D69D0A61-8B42-919D-BED1-E3234B4347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8193092"/>
              </p:ext>
            </p:extLst>
          </p:nvPr>
        </p:nvGraphicFramePr>
        <p:xfrm>
          <a:off x="4304336" y="342783"/>
          <a:ext cx="7610348" cy="5840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3317">
                  <a:extLst>
                    <a:ext uri="{9D8B030D-6E8A-4147-A177-3AD203B41FA5}">
                      <a16:colId xmlns:a16="http://schemas.microsoft.com/office/drawing/2014/main" val="4193952477"/>
                    </a:ext>
                  </a:extLst>
                </a:gridCol>
                <a:gridCol w="951691">
                  <a:extLst>
                    <a:ext uri="{9D8B030D-6E8A-4147-A177-3AD203B41FA5}">
                      <a16:colId xmlns:a16="http://schemas.microsoft.com/office/drawing/2014/main" val="3350572990"/>
                    </a:ext>
                  </a:extLst>
                </a:gridCol>
                <a:gridCol w="2773870">
                  <a:extLst>
                    <a:ext uri="{9D8B030D-6E8A-4147-A177-3AD203B41FA5}">
                      <a16:colId xmlns:a16="http://schemas.microsoft.com/office/drawing/2014/main" val="3112447792"/>
                    </a:ext>
                  </a:extLst>
                </a:gridCol>
                <a:gridCol w="826951">
                  <a:extLst>
                    <a:ext uri="{9D8B030D-6E8A-4147-A177-3AD203B41FA5}">
                      <a16:colId xmlns:a16="http://schemas.microsoft.com/office/drawing/2014/main" val="3666329734"/>
                    </a:ext>
                  </a:extLst>
                </a:gridCol>
                <a:gridCol w="2744519">
                  <a:extLst>
                    <a:ext uri="{9D8B030D-6E8A-4147-A177-3AD203B41FA5}">
                      <a16:colId xmlns:a16="http://schemas.microsoft.com/office/drawing/2014/main" val="1812254141"/>
                    </a:ext>
                  </a:extLst>
                </a:gridCol>
              </a:tblGrid>
              <a:tr h="645321"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br>
                        <a:rPr lang="en-US" sz="1200">
                          <a:effectLst/>
                        </a:rPr>
                      </a:b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Date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Commits</a:t>
                      </a:r>
                      <a:endParaRPr lang="en-US" sz="1100" dirty="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Member committed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Evidence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2906992773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25 August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Initial commit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72af218c0895289395fe81b471b88b9a42c4de18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976010361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25 August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Created the Initial folder Structure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175153863f37e7a143d70d9a73a595a12a335318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2439107755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3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16 September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Add Path Traversal vulnerability app and welcome.txt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c9e02a144134e96f5b3b03e5358811bcb21c6312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418348626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4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16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Created the vulnerable app code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Manodya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55822847c58ef9fb6d3dce11dc119eed16f732e6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3630089840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5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17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Added Path Traversal exploit script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c4511121f8225105660b8f97c8bc5646b954c5ce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600869323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6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18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Created the exploit code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Manodya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920c0ec5caa30c56f8824df2bf98f93208ea305b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3876252512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7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21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Added Path Traversal README file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412fe61eafb63c9c993ffeef6067cb01282ad2f8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218538313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8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21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Added detection and tracing scripts and Readme for Web Cache Poisoning and Path Traversal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Theeksahna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066f87d002b18c9db54bbeae5621309e43f35cd8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667317478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9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21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Created a README file for Web Cache Poisoning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Manodya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1dd76336a800ae46535d4504be8aef01726114ce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184158624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10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24 September 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Created the mitigated code for path  traversal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Sasmitha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a979ee97f13b38af0f304e33d081e3fc903c3d1b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547433887"/>
                  </a:ext>
                </a:extLst>
              </a:tr>
              <a:tr h="30368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11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24 September </a:t>
                      </a:r>
                      <a:endParaRPr lang="en-US" sz="1100" dirty="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Update the </a:t>
                      </a:r>
                      <a:r>
                        <a:rPr lang="en-US" sz="1100" u="sng" strike="noStrike">
                          <a:solidFill>
                            <a:srgbClr val="1155CC"/>
                          </a:solidFill>
                          <a:effectLst/>
                          <a:hlinkClick r:id="rId3"/>
                        </a:rPr>
                        <a:t>exploit.py</a:t>
                      </a: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 code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err="1">
                          <a:solidFill>
                            <a:srgbClr val="000000"/>
                          </a:solidFill>
                          <a:effectLst/>
                        </a:rPr>
                        <a:t>Isuru</a:t>
                      </a:r>
                      <a:endParaRPr lang="en-US" sz="1100" err="1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eed5a2ec56a8b6f00f9cae682b5e7b0207396711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3549967212"/>
                  </a:ext>
                </a:extLst>
              </a:tr>
              <a:tr h="474500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12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25 September</a:t>
                      </a:r>
                      <a:endParaRPr lang="en-US" sz="1100" dirty="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Update both the path traversal and web cache poisoning README file</a:t>
                      </a:r>
                      <a:endParaRPr lang="en-US" sz="1100" dirty="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>
                          <a:solidFill>
                            <a:srgbClr val="000000"/>
                          </a:solidFill>
                          <a:effectLst/>
                        </a:rPr>
                        <a:t>Sasmitha</a:t>
                      </a:r>
                      <a:endParaRPr lang="en-US" sz="1100">
                        <a:effectLst/>
                      </a:endParaRPr>
                    </a:p>
                  </a:txBody>
                  <a:tcPr marL="42071" marR="42071" marT="42071" marB="42071"/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1100" u="none" strike="noStrike" dirty="0">
                          <a:solidFill>
                            <a:srgbClr val="000000"/>
                          </a:solidFill>
                          <a:effectLst/>
                        </a:rPr>
                        <a:t>cf36407816c5dc85d373d6ad8a01de6c573a9987</a:t>
                      </a:r>
                      <a:endParaRPr lang="en-US" sz="1100" dirty="0">
                        <a:effectLst/>
                      </a:endParaRPr>
                    </a:p>
                  </a:txBody>
                  <a:tcPr marL="42071" marR="42071" marT="42071" marB="42071"/>
                </a:tc>
                <a:extLst>
                  <a:ext uri="{0D108BD9-81ED-4DB2-BD59-A6C34878D82A}">
                    <a16:rowId xmlns:a16="http://schemas.microsoft.com/office/drawing/2014/main" val="739951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306561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B0742-78F9-32AF-15B8-1B4C79D861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0333626A-59F4-5126-1BE6-B63ABDFDB0B5}"/>
              </a:ext>
            </a:extLst>
          </p:cNvPr>
          <p:cNvSpPr/>
          <p:nvPr/>
        </p:nvSpPr>
        <p:spPr>
          <a:xfrm>
            <a:off x="6313883" y="2881369"/>
            <a:ext cx="4474729" cy="27216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6884C0A-0EA9-56B4-B1C8-114832F403B9}"/>
              </a:ext>
            </a:extLst>
          </p:cNvPr>
          <p:cNvSpPr/>
          <p:nvPr/>
        </p:nvSpPr>
        <p:spPr>
          <a:xfrm>
            <a:off x="1372089" y="2881369"/>
            <a:ext cx="4474729" cy="2721637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F01FCC3-59CF-1407-FB39-35269AC855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Two Vulnerabilities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9CF561-75DF-3B16-9226-025A4B6FE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48657" y="3800537"/>
            <a:ext cx="4172370" cy="1654488"/>
          </a:xfrm>
          <a:ln>
            <a:noFill/>
          </a:ln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endParaRPr lang="en-US" sz="1600">
              <a:solidFill>
                <a:srgbClr val="0C0C0C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solidFill>
                  <a:srgbClr val="0C0C0C"/>
                </a:solidFill>
                <a:ea typeface="Calibri"/>
                <a:cs typeface="Calibri"/>
              </a:rPr>
              <a:t>Occurs when an application allows user-supplied input to dictate a file-system path without proper </a:t>
            </a:r>
            <a:r>
              <a:rPr lang="en-US" sz="1600" err="1">
                <a:solidFill>
                  <a:srgbClr val="0C0C0C"/>
                </a:solidFill>
                <a:ea typeface="Calibri"/>
                <a:cs typeface="Calibri"/>
              </a:rPr>
              <a:t>sanitisation</a:t>
            </a:r>
            <a:r>
              <a:rPr lang="en-US" sz="1600">
                <a:solidFill>
                  <a:srgbClr val="0C0C0C"/>
                </a:solidFill>
                <a:ea typeface="Calibri"/>
                <a:cs typeface="Calibri"/>
              </a:rPr>
              <a:t>, enabling access to restricted files outside the intended operational scope. Classified as CWE-22.</a:t>
            </a:r>
            <a:endParaRPr lang="en-US" sz="2000">
              <a:solidFill>
                <a:srgbClr val="0C0C0C"/>
              </a:solidFill>
              <a:ea typeface="Calibri"/>
              <a:cs typeface="Calibri"/>
            </a:endParaRPr>
          </a:p>
          <a:p>
            <a:pPr marL="0" indent="0">
              <a:buNone/>
            </a:pPr>
            <a:endParaRPr lang="en-US" sz="2000">
              <a:solidFill>
                <a:srgbClr val="0C0C0C"/>
              </a:solidFill>
              <a:ea typeface="Calibri"/>
              <a:cs typeface="Calibri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CC2242-435B-D2EE-2C5D-2236E46804AD}"/>
              </a:ext>
            </a:extLst>
          </p:cNvPr>
          <p:cNvSpPr txBox="1"/>
          <p:nvPr/>
        </p:nvSpPr>
        <p:spPr>
          <a:xfrm>
            <a:off x="1557334" y="3251349"/>
            <a:ext cx="3506549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C0C0C"/>
                </a:solidFill>
                <a:ea typeface="Calibri"/>
                <a:cs typeface="Calibri"/>
              </a:rPr>
              <a:t>Path Traversal</a:t>
            </a:r>
            <a:endParaRPr lang="en-US">
              <a:solidFill>
                <a:srgbClr val="0C0C0C"/>
              </a:solidFill>
              <a:ea typeface="Calibri"/>
              <a:cs typeface="Calibri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55ACED-CBF6-5498-618B-93BA4187730F}"/>
              </a:ext>
            </a:extLst>
          </p:cNvPr>
          <p:cNvSpPr txBox="1"/>
          <p:nvPr/>
        </p:nvSpPr>
        <p:spPr>
          <a:xfrm>
            <a:off x="6656012" y="3254499"/>
            <a:ext cx="3505562" cy="461665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b="1">
                <a:solidFill>
                  <a:srgbClr val="0C0C0C"/>
                </a:solidFill>
                <a:ea typeface="Calibri"/>
                <a:cs typeface="Calibri"/>
              </a:rPr>
              <a:t>Web Cache Poisoning</a:t>
            </a:r>
            <a:endParaRPr lang="en-US">
              <a:solidFill>
                <a:srgbClr val="0C0C0C"/>
              </a:solidFill>
              <a:ea typeface="Calibri"/>
              <a:cs typeface="Calibri"/>
            </a:endParaRP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42F3E9D9-2E75-6F1E-0B52-1D7FC9A0D69E}"/>
              </a:ext>
            </a:extLst>
          </p:cNvPr>
          <p:cNvSpPr txBox="1">
            <a:spLocks/>
          </p:cNvSpPr>
          <p:nvPr/>
        </p:nvSpPr>
        <p:spPr>
          <a:xfrm>
            <a:off x="6642852" y="3818467"/>
            <a:ext cx="4182590" cy="1654488"/>
          </a:xfrm>
          <a:prstGeom prst="rect">
            <a:avLst/>
          </a:prstGeom>
          <a:ln>
            <a:noFill/>
          </a:ln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600">
              <a:solidFill>
                <a:srgbClr val="0C0C0C"/>
              </a:solidFill>
              <a:ea typeface="Calibri"/>
              <a:cs typeface="Calibri"/>
            </a:endParaRPr>
          </a:p>
          <a:p>
            <a:pPr marL="0" indent="0">
              <a:buNone/>
            </a:pPr>
            <a:r>
              <a:rPr lang="en-US" sz="1600">
                <a:solidFill>
                  <a:srgbClr val="0C0C0C"/>
                </a:solidFill>
                <a:ea typeface="Calibri"/>
                <a:cs typeface="Calibri"/>
              </a:rPr>
              <a:t>Occurs when a caching layer serves stored responses based on a flawed understanding of what makes a request unique — allowing a single manipulated request to corrupt the cache and serve malicious content to all subsequent users.</a:t>
            </a:r>
            <a:endParaRPr lang="en-US" sz="2000">
              <a:solidFill>
                <a:srgbClr val="0C0C0C"/>
              </a:solidFill>
              <a:ea typeface="Calibri"/>
              <a:cs typeface="Calibri"/>
            </a:endParaRPr>
          </a:p>
          <a:p>
            <a:pPr marL="0" indent="0">
              <a:buFont typeface="Arial"/>
              <a:buNone/>
            </a:pPr>
            <a:endParaRPr lang="en-US" sz="2000">
              <a:solidFill>
                <a:srgbClr val="0C0C0C"/>
              </a:solidFill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2241C9-B2C1-2CBD-1666-E1B8E64A6D7D}"/>
              </a:ext>
            </a:extLst>
          </p:cNvPr>
          <p:cNvSpPr txBox="1"/>
          <p:nvPr/>
        </p:nvSpPr>
        <p:spPr>
          <a:xfrm>
            <a:off x="666855" y="2039259"/>
            <a:ext cx="10130116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indent="0" algn="l" rtl="0"/>
            <a:r>
              <a:rPr lang="en-US" sz="1600" kern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Modern web applications face growing security threats as complexity increases. Minor development errors — insufficient input validation, misconfigured caching — create significant avenues for exploitation.</a:t>
            </a:r>
          </a:p>
          <a:p>
            <a:pPr algn="ctr"/>
            <a:endParaRPr lang="en-US">
              <a:solidFill>
                <a:srgbClr val="FFFFFF"/>
              </a:solidFill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E1ED06A5-3323-0ABB-28FF-FF47A4A4B7C6}"/>
              </a:ext>
            </a:extLst>
          </p:cNvPr>
          <p:cNvCxnSpPr/>
          <p:nvPr/>
        </p:nvCxnSpPr>
        <p:spPr>
          <a:xfrm flipV="1">
            <a:off x="1417034" y="3897895"/>
            <a:ext cx="4389120" cy="140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8E36923-DFB3-5FA3-616E-1C21866BE623}"/>
              </a:ext>
            </a:extLst>
          </p:cNvPr>
          <p:cNvCxnSpPr>
            <a:cxnSpLocks/>
          </p:cNvCxnSpPr>
          <p:nvPr/>
        </p:nvCxnSpPr>
        <p:spPr>
          <a:xfrm flipV="1">
            <a:off x="6348996" y="3897895"/>
            <a:ext cx="4389120" cy="14007"/>
          </a:xfrm>
          <a:prstGeom prst="straightConnector1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00136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>
            <a:fillRect l="-4000" r="-4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3EC1C-E9E6-7802-B8EA-9604D9BA05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4723" y="4312451"/>
            <a:ext cx="6972258" cy="1427047"/>
          </a:xfrm>
        </p:spPr>
        <p:txBody>
          <a:bodyPr>
            <a:noAutofit/>
          </a:bodyPr>
          <a:lstStyle/>
          <a:p>
            <a:r>
              <a:rPr lang="en-US" sz="4800" b="1" dirty="0">
                <a:latin typeface="Calibri"/>
                <a:ea typeface="Calibri"/>
                <a:cs typeface="Calibri"/>
              </a:rPr>
              <a:t>Vulnerability 1: Path Traversal</a:t>
            </a:r>
          </a:p>
        </p:txBody>
      </p:sp>
    </p:spTree>
    <p:extLst>
      <p:ext uri="{BB962C8B-B14F-4D97-AF65-F5344CB8AC3E}">
        <p14:creationId xmlns:p14="http://schemas.microsoft.com/office/powerpoint/2010/main" val="322978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3016DF-ACCF-BE1D-2ABF-8E8AD5F4F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649675C-4E66-4645-AF12-36FA1A8A76B8}"/>
              </a:ext>
            </a:extLst>
          </p:cNvPr>
          <p:cNvSpPr/>
          <p:nvPr/>
        </p:nvSpPr>
        <p:spPr>
          <a:xfrm>
            <a:off x="7014458" y="2634965"/>
            <a:ext cx="4432547" cy="178960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D4540C-5AAC-36A5-DE21-A5675A1FA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Vulnerable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5556C9-9B25-EDB2-903B-C67F7CFB0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59814"/>
            <a:ext cx="10131425" cy="471737"/>
          </a:xfrm>
        </p:spPr>
        <p:txBody>
          <a:bodyPr/>
          <a:lstStyle/>
          <a:p>
            <a:r>
              <a:rPr lang="en-US" sz="1600">
                <a:ea typeface="Calibri"/>
                <a:cs typeface="Calibri"/>
              </a:rPr>
              <a:t>A Flask “Document Portal” app serves files via /</a:t>
            </a:r>
            <a:r>
              <a:rPr lang="en-US" sz="1600" err="1">
                <a:ea typeface="Calibri"/>
                <a:cs typeface="Calibri"/>
              </a:rPr>
              <a:t>download?file</a:t>
            </a:r>
            <a:r>
              <a:rPr lang="en-US" sz="1600">
                <a:ea typeface="Calibri"/>
                <a:cs typeface="Calibri"/>
              </a:rPr>
              <a:t>=&lt;name&gt;, intended to restrict access to </a:t>
            </a:r>
            <a:r>
              <a:rPr lang="en-US" sz="1600" err="1">
                <a:ea typeface="Calibri"/>
                <a:cs typeface="Calibri"/>
              </a:rPr>
              <a:t>app_files</a:t>
            </a:r>
            <a:r>
              <a:rPr lang="en-US" sz="1600">
                <a:ea typeface="Calibri"/>
                <a:cs typeface="Calibri"/>
              </a:rPr>
              <a:t>/.</a:t>
            </a:r>
          </a:p>
        </p:txBody>
      </p:sp>
      <p:pic>
        <p:nvPicPr>
          <p:cNvPr id="4" name="Picture 3" descr="A screen shot of a computer screen&#10;&#10;AI-generated content may be incorrect.">
            <a:extLst>
              <a:ext uri="{FF2B5EF4-FFF2-40B4-BE49-F238E27FC236}">
                <a16:creationId xmlns:a16="http://schemas.microsoft.com/office/drawing/2014/main" id="{9DFA1D7B-21A5-E175-FB92-CB878D6982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806" r="-196" b="-1177"/>
          <a:stretch>
            <a:fillRect/>
          </a:stretch>
        </p:blipFill>
        <p:spPr>
          <a:xfrm>
            <a:off x="684183" y="2947988"/>
            <a:ext cx="6215230" cy="115263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0B32311-4CE0-6C00-C0D6-623C1146A409}"/>
              </a:ext>
            </a:extLst>
          </p:cNvPr>
          <p:cNvSpPr txBox="1"/>
          <p:nvPr/>
        </p:nvSpPr>
        <p:spPr>
          <a:xfrm>
            <a:off x="7160559" y="2745441"/>
            <a:ext cx="4134971" cy="15696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Root Cause of the Vulnerability</a:t>
            </a:r>
          </a:p>
          <a:p>
            <a:endParaRPr lang="en-US" sz="16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pPr marL="0" indent="0" algn="l"/>
            <a:r>
              <a:rPr lang="en-US" sz="1600" kern="1200" err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os.path.join</a:t>
            </a:r>
            <a:r>
              <a:rPr lang="en-US" sz="1600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() does not block “../” sequences. Although the base path is DOCUMENT_ROOT, the target path is never checked to confirm it still resolves inside that directory</a:t>
            </a:r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6B60D81-7391-B788-32D9-578AF2A48434}"/>
              </a:ext>
            </a:extLst>
          </p:cNvPr>
          <p:cNvSpPr txBox="1"/>
          <p:nvPr/>
        </p:nvSpPr>
        <p:spPr>
          <a:xfrm>
            <a:off x="683558" y="4852146"/>
            <a:ext cx="103094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Calibri"/>
                <a:ea typeface="Calibri"/>
                <a:cs typeface="Calibri"/>
              </a:rPr>
              <a:t>Test File</a:t>
            </a:r>
            <a:endParaRPr lang="en-US" sz="2000"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24E9128-215E-0BB0-124C-FC85046BB094}"/>
              </a:ext>
            </a:extLst>
          </p:cNvPr>
          <p:cNvSpPr/>
          <p:nvPr/>
        </p:nvSpPr>
        <p:spPr>
          <a:xfrm>
            <a:off x="1826134" y="4864936"/>
            <a:ext cx="4432547" cy="1374987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E0D2AA-3BB0-77C7-5753-DD8E96A2A80B}"/>
              </a:ext>
            </a:extLst>
          </p:cNvPr>
          <p:cNvSpPr txBox="1"/>
          <p:nvPr/>
        </p:nvSpPr>
        <p:spPr>
          <a:xfrm>
            <a:off x="1972235" y="4997823"/>
            <a:ext cx="41349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rgbClr val="92D050"/>
                </a:solidFill>
                <a:latin typeface="Calibri"/>
                <a:ea typeface="Calibri"/>
                <a:cs typeface="Calibri"/>
              </a:rPr>
              <a:t>welcome.txt</a:t>
            </a:r>
          </a:p>
          <a:p>
            <a:endParaRPr lang="en-US" sz="1600" b="1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Legitimate file that can be access through the app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6109CD6-C403-8239-2532-265271408224}"/>
              </a:ext>
            </a:extLst>
          </p:cNvPr>
          <p:cNvSpPr/>
          <p:nvPr/>
        </p:nvSpPr>
        <p:spPr>
          <a:xfrm>
            <a:off x="6566222" y="4864934"/>
            <a:ext cx="4432547" cy="1374989"/>
          </a:xfrm>
          <a:prstGeom prst="roundRect">
            <a:avLst/>
          </a:prstGeom>
          <a:solidFill>
            <a:schemeClr val="tx1"/>
          </a:solidFill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12B3C6E-2224-431A-4BF4-1EA7191F0ECF}"/>
              </a:ext>
            </a:extLst>
          </p:cNvPr>
          <p:cNvSpPr txBox="1"/>
          <p:nvPr/>
        </p:nvSpPr>
        <p:spPr>
          <a:xfrm>
            <a:off x="6712323" y="4964205"/>
            <a:ext cx="4134971" cy="107721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</a:rPr>
              <a:t>Secret_config.txt</a:t>
            </a:r>
          </a:p>
          <a:p>
            <a:endParaRPr lang="en-US" sz="1600" b="1" dirty="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600" dirty="0">
                <a:solidFill>
                  <a:schemeClr val="bg1"/>
                </a:solidFill>
                <a:ea typeface="Calibri"/>
                <a:cs typeface="Calibri"/>
              </a:rPr>
              <a:t>Sensitive file that is not supposed to be reachable by the app</a:t>
            </a:r>
          </a:p>
        </p:txBody>
      </p:sp>
    </p:spTree>
    <p:extLst>
      <p:ext uri="{BB962C8B-B14F-4D97-AF65-F5344CB8AC3E}">
        <p14:creationId xmlns:p14="http://schemas.microsoft.com/office/powerpoint/2010/main" val="25037149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EFA02-46C8-704C-0CA5-4D20B1624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9B52306-BAA0-3AA5-0606-8921191FC164}"/>
              </a:ext>
            </a:extLst>
          </p:cNvPr>
          <p:cNvSpPr/>
          <p:nvPr/>
        </p:nvSpPr>
        <p:spPr>
          <a:xfrm>
            <a:off x="887700" y="3995877"/>
            <a:ext cx="2007412" cy="18702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69D369-AB74-BB29-8974-82B5B781AC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92507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What is Path Traversal and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6F244C-FF76-EE5B-5149-7CBC56DB73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09203"/>
            <a:ext cx="10131425" cy="946188"/>
          </a:xfrm>
        </p:spPr>
        <p:txBody>
          <a:bodyPr>
            <a:normAutofit/>
          </a:bodyPr>
          <a:lstStyle/>
          <a:p>
            <a:r>
              <a:rPr lang="en-US" sz="1600" dirty="0">
                <a:ea typeface="Calibri"/>
                <a:cs typeface="Calibri"/>
              </a:rPr>
              <a:t>Path traversal (CWE-22) occurs when a web application takes user input and uses it to build a file-system path without validation. Sequences like “../” move the OS up a directory level, letting attackers reach files outside the intended scope.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E79CB9C-65CB-4D30-C358-172E1F286C26}"/>
              </a:ext>
            </a:extLst>
          </p:cNvPr>
          <p:cNvSpPr txBox="1">
            <a:spLocks/>
          </p:cNvSpPr>
          <p:nvPr/>
        </p:nvSpPr>
        <p:spPr>
          <a:xfrm>
            <a:off x="713668" y="3098235"/>
            <a:ext cx="3747667" cy="7555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en-US" sz="2000" dirty="0">
                <a:ea typeface="Calibri" panose="020F0502020204030204"/>
                <a:cs typeface="Calibri" panose="020F0502020204030204"/>
              </a:rPr>
              <a:t>Why it's Common and Significant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142C8DE-B5A6-4455-6E64-549F486F39A7}"/>
              </a:ext>
            </a:extLst>
          </p:cNvPr>
          <p:cNvSpPr txBox="1"/>
          <p:nvPr/>
        </p:nvSpPr>
        <p:spPr>
          <a:xfrm>
            <a:off x="914078" y="4786513"/>
            <a:ext cx="195462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Higher possibility of this vulnerability occurring</a:t>
            </a:r>
            <a:endParaRPr lang="en-US" sz="20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83A530F-1D8B-DB6D-BC2C-E24A924009EF}"/>
              </a:ext>
            </a:extLst>
          </p:cNvPr>
          <p:cNvSpPr/>
          <p:nvPr/>
        </p:nvSpPr>
        <p:spPr>
          <a:xfrm>
            <a:off x="1051497" y="421699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77122E0-3719-7888-D6DB-F6CD01202F98}"/>
              </a:ext>
            </a:extLst>
          </p:cNvPr>
          <p:cNvSpPr txBox="1"/>
          <p:nvPr/>
        </p:nvSpPr>
        <p:spPr>
          <a:xfrm>
            <a:off x="1126989" y="4259838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1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E371BCEC-936F-9933-8075-37526C5AB378}"/>
              </a:ext>
            </a:extLst>
          </p:cNvPr>
          <p:cNvSpPr/>
          <p:nvPr/>
        </p:nvSpPr>
        <p:spPr>
          <a:xfrm>
            <a:off x="3465052" y="3962259"/>
            <a:ext cx="2007412" cy="18702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AB9F9A-E205-8421-307F-F08A94238409}"/>
              </a:ext>
            </a:extLst>
          </p:cNvPr>
          <p:cNvSpPr txBox="1"/>
          <p:nvPr/>
        </p:nvSpPr>
        <p:spPr>
          <a:xfrm>
            <a:off x="3491430" y="4786512"/>
            <a:ext cx="1954627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Use of language or framework</a:t>
            </a:r>
            <a:endParaRPr lang="en-US" sz="2000"/>
          </a:p>
          <a:p>
            <a:pPr algn="ctr"/>
            <a:endParaRPr lang="en-US" sz="14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1ED6419-45E0-BCE7-2AC9-9FD5A100BD6C}"/>
              </a:ext>
            </a:extLst>
          </p:cNvPr>
          <p:cNvSpPr/>
          <p:nvPr/>
        </p:nvSpPr>
        <p:spPr>
          <a:xfrm>
            <a:off x="3628849" y="4183375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DF7F140-7001-EBB4-68AE-FEFED54BF4F5}"/>
              </a:ext>
            </a:extLst>
          </p:cNvPr>
          <p:cNvSpPr txBox="1"/>
          <p:nvPr/>
        </p:nvSpPr>
        <p:spPr>
          <a:xfrm>
            <a:off x="3693135" y="4226220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2</a:t>
            </a:r>
            <a:endParaRPr lang="en-US" sz="120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EC3F56DF-1C40-6C6C-7D0F-477750F9693E}"/>
              </a:ext>
            </a:extLst>
          </p:cNvPr>
          <p:cNvSpPr/>
          <p:nvPr/>
        </p:nvSpPr>
        <p:spPr>
          <a:xfrm>
            <a:off x="6154464" y="3951053"/>
            <a:ext cx="2007412" cy="18702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51108EF-4D6C-11C6-0C16-D3A25762CDC2}"/>
              </a:ext>
            </a:extLst>
          </p:cNvPr>
          <p:cNvSpPr txBox="1"/>
          <p:nvPr/>
        </p:nvSpPr>
        <p:spPr>
          <a:xfrm>
            <a:off x="6158431" y="4789352"/>
            <a:ext cx="2010656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High impact</a:t>
            </a:r>
            <a:endParaRPr lang="en-US" sz="2000"/>
          </a:p>
          <a:p>
            <a:pPr algn="ctr"/>
            <a:endParaRPr lang="en-US" sz="14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83E3C1-7F8F-84DD-F59B-66C1DB02F28D}"/>
              </a:ext>
            </a:extLst>
          </p:cNvPr>
          <p:cNvSpPr/>
          <p:nvPr/>
        </p:nvSpPr>
        <p:spPr>
          <a:xfrm>
            <a:off x="6318261" y="4172169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3DC32C-4B26-0308-41B5-EFB885681998}"/>
              </a:ext>
            </a:extLst>
          </p:cNvPr>
          <p:cNvSpPr txBox="1"/>
          <p:nvPr/>
        </p:nvSpPr>
        <p:spPr>
          <a:xfrm>
            <a:off x="6382547" y="4215014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3</a:t>
            </a:r>
            <a:endParaRPr lang="en-US" sz="120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7D09939-461D-FF87-4BB9-1A25E6875994}"/>
              </a:ext>
            </a:extLst>
          </p:cNvPr>
          <p:cNvSpPr/>
          <p:nvPr/>
        </p:nvSpPr>
        <p:spPr>
          <a:xfrm>
            <a:off x="8720611" y="3939847"/>
            <a:ext cx="2007412" cy="187029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340361-D53F-3440-AD48-4DD5A3957A51}"/>
              </a:ext>
            </a:extLst>
          </p:cNvPr>
          <p:cNvSpPr txBox="1"/>
          <p:nvPr/>
        </p:nvSpPr>
        <p:spPr>
          <a:xfrm>
            <a:off x="8724578" y="4786514"/>
            <a:ext cx="201065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solidFill>
                  <a:schemeClr val="bg1"/>
                </a:solidFill>
                <a:latin typeface="Arial"/>
                <a:cs typeface="Arial"/>
              </a:rPr>
              <a:t>Common in real-world systems</a:t>
            </a:r>
          </a:p>
          <a:p>
            <a:pPr algn="ctr"/>
            <a:endParaRPr lang="en-US" sz="1400">
              <a:solidFill>
                <a:schemeClr val="bg1"/>
              </a:solidFill>
              <a:latin typeface="Arial"/>
              <a:ea typeface="Calibri"/>
              <a:cs typeface="Arial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FB0F6848-DEDE-6284-F85E-3C81BDF590CC}"/>
              </a:ext>
            </a:extLst>
          </p:cNvPr>
          <p:cNvSpPr/>
          <p:nvPr/>
        </p:nvSpPr>
        <p:spPr>
          <a:xfrm>
            <a:off x="8884408" y="416096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F1702AD-593D-F8BA-6C8A-787D4FAEC5B9}"/>
              </a:ext>
            </a:extLst>
          </p:cNvPr>
          <p:cNvSpPr txBox="1"/>
          <p:nvPr/>
        </p:nvSpPr>
        <p:spPr>
          <a:xfrm>
            <a:off x="8948694" y="4203808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4</a:t>
            </a:r>
            <a:endParaRPr lang="en-US" sz="1200"/>
          </a:p>
        </p:txBody>
      </p:sp>
    </p:spTree>
    <p:extLst>
      <p:ext uri="{BB962C8B-B14F-4D97-AF65-F5344CB8AC3E}">
        <p14:creationId xmlns:p14="http://schemas.microsoft.com/office/powerpoint/2010/main" val="5027851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0B341-C9EC-E76D-602D-CA046BF43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9A58A-CF94-420A-A47D-842964C676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Exploitation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973C6B-E231-8AD7-23DE-0011D093E5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29155"/>
            <a:ext cx="10131425" cy="39942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>
                <a:ea typeface="Calibri"/>
                <a:cs typeface="Calibri"/>
              </a:rPr>
              <a:t>exploit.py first requests welcome.txt (legitimate), then attacks secret_config.txt using the payload below:</a:t>
            </a:r>
          </a:p>
        </p:txBody>
      </p:sp>
      <p:pic>
        <p:nvPicPr>
          <p:cNvPr id="4" name="Picture 3" descr="A screen shot of a computer code&#10;&#10;AI-generated content may be incorrect.">
            <a:extLst>
              <a:ext uri="{FF2B5EF4-FFF2-40B4-BE49-F238E27FC236}">
                <a16:creationId xmlns:a16="http://schemas.microsoft.com/office/drawing/2014/main" id="{95E6BB30-C79A-DC79-E5D4-6E286D48D7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6980" y="2494709"/>
            <a:ext cx="3949513" cy="1409139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2E2CC53-1BEB-F899-E790-D17AE66D27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1" y="2494709"/>
            <a:ext cx="5454599" cy="385930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074FE9FA-A97B-0D3D-647B-4D3CA2CB30A3}"/>
              </a:ext>
            </a:extLst>
          </p:cNvPr>
          <p:cNvSpPr txBox="1">
            <a:spLocks/>
          </p:cNvSpPr>
          <p:nvPr/>
        </p:nvSpPr>
        <p:spPr>
          <a:xfrm>
            <a:off x="6439262" y="4541821"/>
            <a:ext cx="5268072" cy="69078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ea typeface="Calibri"/>
                <a:cs typeface="Calibri"/>
              </a:rPr>
              <a:t>Executing the exploit.py parallel to the vulnerable_app.py it would print the two text file as displayed.</a:t>
            </a:r>
          </a:p>
        </p:txBody>
      </p:sp>
    </p:spTree>
    <p:extLst>
      <p:ext uri="{BB962C8B-B14F-4D97-AF65-F5344CB8AC3E}">
        <p14:creationId xmlns:p14="http://schemas.microsoft.com/office/powerpoint/2010/main" val="3756750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2FCC3-00CE-2E28-EB39-CC0F1BD7A1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15B35A-0BD5-1663-0D55-FCD880881276}"/>
              </a:ext>
            </a:extLst>
          </p:cNvPr>
          <p:cNvSpPr/>
          <p:nvPr/>
        </p:nvSpPr>
        <p:spPr>
          <a:xfrm>
            <a:off x="683274" y="1954468"/>
            <a:ext cx="10291111" cy="91536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B2D4EC-8494-03DD-2688-36D79504C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Impact and Consequences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4B90EE3-23B1-5807-DD8E-664CE40C38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3027" y="2270196"/>
            <a:ext cx="2993066" cy="2937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Source codes exposed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8" name="Content Placeholder 5">
            <a:extLst>
              <a:ext uri="{FF2B5EF4-FFF2-40B4-BE49-F238E27FC236}">
                <a16:creationId xmlns:a16="http://schemas.microsoft.com/office/drawing/2014/main" id="{6C5F2386-BAEE-5879-060D-99B863615F4E}"/>
              </a:ext>
            </a:extLst>
          </p:cNvPr>
          <p:cNvSpPr txBox="1">
            <a:spLocks/>
          </p:cNvSpPr>
          <p:nvPr/>
        </p:nvSpPr>
        <p:spPr>
          <a:xfrm>
            <a:off x="4385814" y="2270785"/>
            <a:ext cx="6427989" cy="3321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bg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Allows attackers to access application files which leads to discoveries of more vulnerabilities.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E5BA055-A410-7E42-04F2-CF2A2A61BD3B}"/>
              </a:ext>
            </a:extLst>
          </p:cNvPr>
          <p:cNvSpPr/>
          <p:nvPr/>
        </p:nvSpPr>
        <p:spPr>
          <a:xfrm>
            <a:off x="683274" y="1954469"/>
            <a:ext cx="160995" cy="909406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3124A46-9130-16FD-871E-1822EA0A67F9}"/>
              </a:ext>
            </a:extLst>
          </p:cNvPr>
          <p:cNvCxnSpPr/>
          <p:nvPr/>
        </p:nvCxnSpPr>
        <p:spPr>
          <a:xfrm>
            <a:off x="4070051" y="1957313"/>
            <a:ext cx="4985" cy="918107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7B649B97-AF3B-438B-78B9-6550D48768B1}"/>
              </a:ext>
            </a:extLst>
          </p:cNvPr>
          <p:cNvSpPr/>
          <p:nvPr/>
        </p:nvSpPr>
        <p:spPr>
          <a:xfrm>
            <a:off x="683274" y="3067841"/>
            <a:ext cx="10291111" cy="91035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5">
            <a:extLst>
              <a:ext uri="{FF2B5EF4-FFF2-40B4-BE49-F238E27FC236}">
                <a16:creationId xmlns:a16="http://schemas.microsoft.com/office/drawing/2014/main" id="{711314C3-7210-E49E-6468-18D6D50F29E6}"/>
              </a:ext>
            </a:extLst>
          </p:cNvPr>
          <p:cNvSpPr txBox="1">
            <a:spLocks/>
          </p:cNvSpPr>
          <p:nvPr/>
        </p:nvSpPr>
        <p:spPr>
          <a:xfrm>
            <a:off x="929751" y="3390293"/>
            <a:ext cx="3165594" cy="2937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System files exposed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15" name="Content Placeholder 5">
            <a:extLst>
              <a:ext uri="{FF2B5EF4-FFF2-40B4-BE49-F238E27FC236}">
                <a16:creationId xmlns:a16="http://schemas.microsoft.com/office/drawing/2014/main" id="{41FBB534-385E-72A8-6AFB-B4BF443AF3E2}"/>
              </a:ext>
            </a:extLst>
          </p:cNvPr>
          <p:cNvSpPr txBox="1">
            <a:spLocks/>
          </p:cNvSpPr>
          <p:nvPr/>
        </p:nvSpPr>
        <p:spPr>
          <a:xfrm>
            <a:off x="4385813" y="3384158"/>
            <a:ext cx="6427989" cy="3321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bg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Might expose passwords or API keys  that would allow attackers to access other system files.</a:t>
            </a:r>
            <a:endParaRPr lang="en-US" sz="1400">
              <a:solidFill>
                <a:schemeClr val="bg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D6851F0-9FB5-2D02-0A06-40FC2707266D}"/>
              </a:ext>
            </a:extLst>
          </p:cNvPr>
          <p:cNvSpPr/>
          <p:nvPr/>
        </p:nvSpPr>
        <p:spPr>
          <a:xfrm>
            <a:off x="683274" y="3067843"/>
            <a:ext cx="160995" cy="914833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E6C13FB1-5E9F-911D-7377-A7B58291B964}"/>
              </a:ext>
            </a:extLst>
          </p:cNvPr>
          <p:cNvCxnSpPr>
            <a:cxnSpLocks/>
          </p:cNvCxnSpPr>
          <p:nvPr/>
        </p:nvCxnSpPr>
        <p:spPr>
          <a:xfrm>
            <a:off x="4070051" y="3070686"/>
            <a:ext cx="4985" cy="913096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03A2B2DB-3478-A625-5FE0-11D1E9A88A41}"/>
              </a:ext>
            </a:extLst>
          </p:cNvPr>
          <p:cNvSpPr/>
          <p:nvPr/>
        </p:nvSpPr>
        <p:spPr>
          <a:xfrm>
            <a:off x="672068" y="4184285"/>
            <a:ext cx="10291111" cy="9207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Content Placeholder 5">
            <a:extLst>
              <a:ext uri="{FF2B5EF4-FFF2-40B4-BE49-F238E27FC236}">
                <a16:creationId xmlns:a16="http://schemas.microsoft.com/office/drawing/2014/main" id="{2404E92F-AD5E-3F40-2BE7-04E03CF96403}"/>
              </a:ext>
            </a:extLst>
          </p:cNvPr>
          <p:cNvSpPr txBox="1">
            <a:spLocks/>
          </p:cNvSpPr>
          <p:nvPr/>
        </p:nvSpPr>
        <p:spPr>
          <a:xfrm>
            <a:off x="918545" y="4506736"/>
            <a:ext cx="3165594" cy="2937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Unauthorised external codes executed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20" name="Content Placeholder 5">
            <a:extLst>
              <a:ext uri="{FF2B5EF4-FFF2-40B4-BE49-F238E27FC236}">
                <a16:creationId xmlns:a16="http://schemas.microsoft.com/office/drawing/2014/main" id="{A93733D4-1AC7-5883-9924-C7D8D285044A}"/>
              </a:ext>
            </a:extLst>
          </p:cNvPr>
          <p:cNvSpPr txBox="1">
            <a:spLocks/>
          </p:cNvSpPr>
          <p:nvPr/>
        </p:nvSpPr>
        <p:spPr>
          <a:xfrm>
            <a:off x="4374607" y="4500602"/>
            <a:ext cx="6427989" cy="33219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chemeClr val="bg1">
                    <a:lumMod val="95000"/>
                    <a:lumOff val="5000"/>
                  </a:schemeClr>
                </a:solidFill>
                <a:latin typeface="Calibri"/>
                <a:ea typeface="Calibri"/>
                <a:cs typeface="Calibri"/>
              </a:rPr>
              <a:t>Attackers might execute their own codes that would give external control over the server.</a:t>
            </a:r>
            <a:endParaRPr lang="en-US" sz="1400">
              <a:solidFill>
                <a:schemeClr val="bg1">
                  <a:lumMod val="95000"/>
                  <a:lumOff val="5000"/>
                </a:schemeClr>
              </a:solidFill>
              <a:ea typeface="Calibri"/>
              <a:cs typeface="Calibri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248E9CD-6D91-7C03-B858-8B9577212A02}"/>
              </a:ext>
            </a:extLst>
          </p:cNvPr>
          <p:cNvSpPr/>
          <p:nvPr/>
        </p:nvSpPr>
        <p:spPr>
          <a:xfrm>
            <a:off x="672068" y="4184286"/>
            <a:ext cx="160995" cy="914833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496C6CD-7F87-9CDA-9EA3-0585DFBD6A14}"/>
              </a:ext>
            </a:extLst>
          </p:cNvPr>
          <p:cNvCxnSpPr>
            <a:cxnSpLocks/>
          </p:cNvCxnSpPr>
          <p:nvPr/>
        </p:nvCxnSpPr>
        <p:spPr>
          <a:xfrm>
            <a:off x="4058845" y="4187129"/>
            <a:ext cx="4985" cy="913096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379A1060-DDCB-44B5-09FA-0C798285D75C}"/>
              </a:ext>
            </a:extLst>
          </p:cNvPr>
          <p:cNvSpPr/>
          <p:nvPr/>
        </p:nvSpPr>
        <p:spPr>
          <a:xfrm>
            <a:off x="672068" y="5300728"/>
            <a:ext cx="10291111" cy="92079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Content Placeholder 5">
            <a:extLst>
              <a:ext uri="{FF2B5EF4-FFF2-40B4-BE49-F238E27FC236}">
                <a16:creationId xmlns:a16="http://schemas.microsoft.com/office/drawing/2014/main" id="{683EBF78-4688-F898-02DB-84AB44B8BABB}"/>
              </a:ext>
            </a:extLst>
          </p:cNvPr>
          <p:cNvSpPr txBox="1">
            <a:spLocks/>
          </p:cNvSpPr>
          <p:nvPr/>
        </p:nvSpPr>
        <p:spPr>
          <a:xfrm>
            <a:off x="918545" y="5623180"/>
            <a:ext cx="3165594" cy="29371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Breach of confidentiality</a:t>
            </a:r>
            <a:endParaRPr lang="en-US" b="1">
              <a:latin typeface="Calibri"/>
              <a:ea typeface="Calibri"/>
              <a:cs typeface="Calibri"/>
            </a:endParaRPr>
          </a:p>
        </p:txBody>
      </p:sp>
      <p:sp>
        <p:nvSpPr>
          <p:cNvPr id="30" name="Content Placeholder 5">
            <a:extLst>
              <a:ext uri="{FF2B5EF4-FFF2-40B4-BE49-F238E27FC236}">
                <a16:creationId xmlns:a16="http://schemas.microsoft.com/office/drawing/2014/main" id="{104B557C-B579-BCA0-3F5C-4E7C3B84BF84}"/>
              </a:ext>
            </a:extLst>
          </p:cNvPr>
          <p:cNvSpPr txBox="1">
            <a:spLocks/>
          </p:cNvSpPr>
          <p:nvPr/>
        </p:nvSpPr>
        <p:spPr>
          <a:xfrm>
            <a:off x="4374606" y="5617044"/>
            <a:ext cx="6427989" cy="3321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>
                <a:solidFill>
                  <a:srgbClr val="3F3F3F"/>
                </a:solidFill>
                <a:latin typeface="Calibri"/>
                <a:ea typeface="Calibri"/>
                <a:cs typeface="Calibri"/>
              </a:rPr>
              <a:t>Expose confidential documents that compromises user and system privacy.</a:t>
            </a:r>
            <a:endParaRPr lang="en-US" sz="1400">
              <a:solidFill>
                <a:srgbClr val="3F3F3F"/>
              </a:solidFill>
              <a:ea typeface="Calibri"/>
              <a:cs typeface="Calibri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9D2AA61C-A481-6C72-60FC-9BAB2F4EA88E}"/>
              </a:ext>
            </a:extLst>
          </p:cNvPr>
          <p:cNvSpPr/>
          <p:nvPr/>
        </p:nvSpPr>
        <p:spPr>
          <a:xfrm>
            <a:off x="672068" y="5300730"/>
            <a:ext cx="160995" cy="914833"/>
          </a:xfrm>
          <a:prstGeom prst="rect">
            <a:avLst/>
          </a:prstGeom>
          <a:solidFill>
            <a:srgbClr val="FF0000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A5B2E8B-B7FC-9522-29F5-28F67A388B01}"/>
              </a:ext>
            </a:extLst>
          </p:cNvPr>
          <p:cNvCxnSpPr>
            <a:cxnSpLocks/>
          </p:cNvCxnSpPr>
          <p:nvPr/>
        </p:nvCxnSpPr>
        <p:spPr>
          <a:xfrm>
            <a:off x="4058845" y="5303573"/>
            <a:ext cx="4985" cy="913096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233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9675-4F85-2660-F6F9-28C91187BE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EAA1EF-2158-6EA5-A0D4-FB6B174A0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60440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Detection and Tracing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D4077C2-714B-4117-F76E-6462504E3AB2}"/>
              </a:ext>
            </a:extLst>
          </p:cNvPr>
          <p:cNvSpPr txBox="1"/>
          <p:nvPr/>
        </p:nvSpPr>
        <p:spPr>
          <a:xfrm>
            <a:off x="682831" y="1810348"/>
            <a:ext cx="7085609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Tool: pt_detector.py, reads the app's own access log (or stdin)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375560C7-69E5-B9CC-5C2B-0016E656B93C}"/>
              </a:ext>
            </a:extLst>
          </p:cNvPr>
          <p:cNvSpPr/>
          <p:nvPr/>
        </p:nvSpPr>
        <p:spPr>
          <a:xfrm>
            <a:off x="788474" y="2340572"/>
            <a:ext cx="4972417" cy="10114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A28379-1344-055B-2826-7E8444378F81}"/>
              </a:ext>
            </a:extLst>
          </p:cNvPr>
          <p:cNvSpPr txBox="1"/>
          <p:nvPr/>
        </p:nvSpPr>
        <p:spPr>
          <a:xfrm>
            <a:off x="1504208" y="2473388"/>
            <a:ext cx="4007922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ea typeface="Calibri"/>
                <a:cs typeface="Calibri"/>
              </a:rPr>
              <a:t>Capture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Every /</a:t>
            </a: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download?file</a:t>
            </a:r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= request is already in the app's access log: IP, URL, status code.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370F5A8D-9DB5-FEDE-BD9C-2D7A33125D32}"/>
              </a:ext>
            </a:extLst>
          </p:cNvPr>
          <p:cNvSpPr/>
          <p:nvPr/>
        </p:nvSpPr>
        <p:spPr>
          <a:xfrm>
            <a:off x="863471" y="2474641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238FFCB-2702-AECE-ABED-330A601E279F}"/>
              </a:ext>
            </a:extLst>
          </p:cNvPr>
          <p:cNvSpPr txBox="1"/>
          <p:nvPr/>
        </p:nvSpPr>
        <p:spPr>
          <a:xfrm>
            <a:off x="920319" y="2509345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Arial"/>
                <a:ea typeface="Calibri"/>
                <a:cs typeface="Arial"/>
              </a:rPr>
              <a:t>1</a:t>
            </a:r>
            <a:endParaRPr lang="en-US" sz="32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F1574B7-7C3B-7FB0-DDBD-2BE190B41C5D}"/>
              </a:ext>
            </a:extLst>
          </p:cNvPr>
          <p:cNvSpPr/>
          <p:nvPr/>
        </p:nvSpPr>
        <p:spPr>
          <a:xfrm>
            <a:off x="738993" y="3676546"/>
            <a:ext cx="4972417" cy="10114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D9E3EB3-3F53-0F87-FAA1-20F04B6C8FD3}"/>
              </a:ext>
            </a:extLst>
          </p:cNvPr>
          <p:cNvSpPr/>
          <p:nvPr/>
        </p:nvSpPr>
        <p:spPr>
          <a:xfrm>
            <a:off x="833781" y="3830407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CF406C1-05B7-D16D-940C-14173BF0096A}"/>
              </a:ext>
            </a:extLst>
          </p:cNvPr>
          <p:cNvSpPr txBox="1"/>
          <p:nvPr/>
        </p:nvSpPr>
        <p:spPr>
          <a:xfrm>
            <a:off x="1454727" y="3809362"/>
            <a:ext cx="4007922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ea typeface="Calibri"/>
                <a:cs typeface="Calibri"/>
              </a:rPr>
              <a:t>Capture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Every /</a:t>
            </a: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download?file</a:t>
            </a:r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= request is already in the app's access log: IP, URL, status code.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5A41632-0D22-3334-8FDD-FD61456A8D60}"/>
              </a:ext>
            </a:extLst>
          </p:cNvPr>
          <p:cNvSpPr txBox="1"/>
          <p:nvPr/>
        </p:nvSpPr>
        <p:spPr>
          <a:xfrm>
            <a:off x="909816" y="3874337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2</a:t>
            </a:r>
            <a:endParaRPr lang="en-US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40C7759-FC85-80AD-D1FE-8B6445B208E1}"/>
              </a:ext>
            </a:extLst>
          </p:cNvPr>
          <p:cNvSpPr/>
          <p:nvPr/>
        </p:nvSpPr>
        <p:spPr>
          <a:xfrm>
            <a:off x="788473" y="5013158"/>
            <a:ext cx="4972417" cy="10114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B8E8A47-5E65-2FDB-DBCA-AAFC2BCCD56C}"/>
              </a:ext>
            </a:extLst>
          </p:cNvPr>
          <p:cNvSpPr txBox="1"/>
          <p:nvPr/>
        </p:nvSpPr>
        <p:spPr>
          <a:xfrm>
            <a:off x="1504207" y="5145974"/>
            <a:ext cx="4007922" cy="10464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ea typeface="Calibri"/>
                <a:cs typeface="Calibri"/>
              </a:rPr>
              <a:t>Capture</a:t>
            </a:r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Every /</a:t>
            </a:r>
            <a:r>
              <a:rPr lang="en-US" sz="1400" err="1">
                <a:solidFill>
                  <a:schemeClr val="bg1"/>
                </a:solidFill>
                <a:ea typeface="Calibri"/>
                <a:cs typeface="Calibri"/>
              </a:rPr>
              <a:t>download?file</a:t>
            </a:r>
            <a:r>
              <a:rPr lang="en-US" sz="1400">
                <a:solidFill>
                  <a:schemeClr val="bg1"/>
                </a:solidFill>
                <a:ea typeface="Calibri"/>
                <a:cs typeface="Calibri"/>
              </a:rPr>
              <a:t>= request is already in the app's access log: IP, URL, status code.</a:t>
            </a:r>
          </a:p>
          <a:p>
            <a:pPr algn="l"/>
            <a:endParaRPr lang="en-US">
              <a:ea typeface="Calibri"/>
              <a:cs typeface="Calibri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5CCBCEB5-8942-98C9-FEA5-566A853DE7DC}"/>
              </a:ext>
            </a:extLst>
          </p:cNvPr>
          <p:cNvSpPr/>
          <p:nvPr/>
        </p:nvSpPr>
        <p:spPr>
          <a:xfrm>
            <a:off x="873365" y="5127435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5377245-1DC8-9933-0D82-D5B961C766A3}"/>
              </a:ext>
            </a:extLst>
          </p:cNvPr>
          <p:cNvSpPr txBox="1"/>
          <p:nvPr/>
        </p:nvSpPr>
        <p:spPr>
          <a:xfrm>
            <a:off x="938962" y="5160926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3</a:t>
            </a:r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5D1305-DBA6-9D1B-CF15-B801643D7A27}"/>
              </a:ext>
            </a:extLst>
          </p:cNvPr>
          <p:cNvSpPr/>
          <p:nvPr/>
        </p:nvSpPr>
        <p:spPr>
          <a:xfrm>
            <a:off x="6416386" y="2199409"/>
            <a:ext cx="4875068" cy="1801090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5ADCEAE-4534-F2F4-B47C-3EE8D9F5C472}"/>
              </a:ext>
            </a:extLst>
          </p:cNvPr>
          <p:cNvSpPr txBox="1"/>
          <p:nvPr/>
        </p:nvSpPr>
        <p:spPr>
          <a:xfrm>
            <a:off x="6703671" y="2247417"/>
            <a:ext cx="3838936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accent2"/>
                </a:solidFill>
                <a:ea typeface="+mn-lt"/>
                <a:cs typeface="+mn-lt"/>
              </a:rPr>
              <a:t>$ python pt_detector.py access.log</a:t>
            </a:r>
            <a:endParaRPr lang="en-US">
              <a:solidFill>
                <a:schemeClr val="accent2"/>
              </a:solidFill>
              <a:ea typeface="Calibri"/>
              <a:cs typeface="Calibri"/>
            </a:endParaRPr>
          </a:p>
          <a:p>
            <a:endParaRPr lang="en-US">
              <a:solidFill>
                <a:schemeClr val="accent3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FF0000"/>
                </a:solidFill>
                <a:ea typeface="+mn-lt"/>
                <a:cs typeface="+mn-lt"/>
              </a:rPr>
              <a:t>Attack log: COMPROMISED (exit 1)</a:t>
            </a:r>
            <a:endParaRPr lang="en-US">
              <a:solidFill>
                <a:srgbClr val="FF0000"/>
              </a:solidFill>
              <a:ea typeface="Calibri"/>
              <a:cs typeface="Calibri"/>
            </a:endParaRPr>
          </a:p>
          <a:p>
            <a:r>
              <a:rPr lang="en-US">
                <a:ea typeface="+mn-lt"/>
                <a:cs typeface="+mn-lt"/>
              </a:rPr>
              <a:t>2 traversal requests succeeded, 3 failed</a:t>
            </a:r>
            <a:endParaRPr lang="en-US">
              <a:ea typeface="Calibri"/>
              <a:cs typeface="Calibri"/>
            </a:endParaRPr>
          </a:p>
          <a:p>
            <a:endParaRPr lang="en-US">
              <a:solidFill>
                <a:schemeClr val="accent3">
                  <a:lumMod val="40000"/>
                  <a:lumOff val="60000"/>
                </a:schemeClr>
              </a:solidFill>
              <a:ea typeface="Calibri"/>
              <a:cs typeface="Calibri"/>
            </a:endParaRPr>
          </a:p>
          <a:p>
            <a:r>
              <a:rPr lang="en-US">
                <a:solidFill>
                  <a:srgbClr val="00B050"/>
                </a:solidFill>
                <a:ea typeface="+mn-lt"/>
                <a:cs typeface="+mn-lt"/>
              </a:rPr>
              <a:t>Clean log: CLEAN (exit 0)</a:t>
            </a:r>
            <a:endParaRPr lang="en-US">
              <a:solidFill>
                <a:srgbClr val="00B050"/>
              </a:solidFill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0D6BC85-02A4-EE7E-D370-325CEB5381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5479" y="4398586"/>
            <a:ext cx="4763580" cy="1595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7050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2DEE3A0-39AA-793A-F239-A9FEB9391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E94CE-0005-68E0-3229-256083BA94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5476568" cy="14533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Mitigation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01FE7-57D6-95A3-66E4-7FD6839299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261420"/>
            <a:ext cx="4002936" cy="3637935"/>
          </a:xfrm>
        </p:spPr>
        <p:txBody>
          <a:bodyPr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>
                <a:ea typeface="+mn-lt"/>
                <a:cs typeface="+mn-lt"/>
              </a:rPr>
              <a:t>1. Input Validation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Rejects unsafe filenames such as </a:t>
            </a:r>
            <a:r>
              <a:rPr lang="en-US" sz="1600">
                <a:latin typeface="Consolas"/>
              </a:rPr>
              <a:t>..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>
                <a:latin typeface="Consolas"/>
              </a:rPr>
              <a:t>/</a:t>
            </a:r>
            <a:r>
              <a:rPr lang="en-US" sz="1600">
                <a:ea typeface="+mn-lt"/>
                <a:cs typeface="+mn-lt"/>
              </a:rPr>
              <a:t>, </a:t>
            </a:r>
            <a:r>
              <a:rPr lang="en-US" sz="1600">
                <a:latin typeface="Consolas"/>
              </a:rPr>
              <a:t>\</a:t>
            </a:r>
            <a:r>
              <a:rPr lang="en-US" sz="1600">
                <a:ea typeface="+mn-lt"/>
                <a:cs typeface="+mn-lt"/>
              </a:rPr>
              <a:t>, empty names and absolute paths.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>
                <a:ea typeface="+mn-lt"/>
                <a:cs typeface="+mn-lt"/>
              </a:rPr>
              <a:t>2. Filename </a:t>
            </a:r>
            <a:r>
              <a:rPr lang="en-US" sz="1600" b="1" err="1">
                <a:ea typeface="+mn-lt"/>
                <a:cs typeface="+mn-lt"/>
              </a:rPr>
              <a:t>Sanitisation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err="1">
                <a:latin typeface="Consolas"/>
              </a:rPr>
              <a:t>secure_filename</a:t>
            </a:r>
            <a:r>
              <a:rPr lang="en-US" sz="1600">
                <a:latin typeface="Consolas"/>
              </a:rPr>
              <a:t>()</a:t>
            </a:r>
            <a:r>
              <a:rPr lang="en-US" sz="1600">
                <a:ea typeface="+mn-lt"/>
                <a:cs typeface="+mn-lt"/>
              </a:rPr>
              <a:t> cleans the filename before it is used.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>
                <a:ea typeface="+mn-lt"/>
                <a:cs typeface="+mn-lt"/>
              </a:rPr>
              <a:t>3. Path Verification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err="1">
                <a:latin typeface="Consolas"/>
              </a:rPr>
              <a:t>realpath</a:t>
            </a:r>
            <a:r>
              <a:rPr lang="en-US" sz="1600">
                <a:latin typeface="Consolas"/>
              </a:rPr>
              <a:t>()</a:t>
            </a:r>
            <a:r>
              <a:rPr lang="en-US" sz="1600">
                <a:ea typeface="+mn-lt"/>
                <a:cs typeface="+mn-lt"/>
              </a:rPr>
              <a:t> finds the actual file location.</a:t>
            </a:r>
            <a:endParaRPr lang="en-US" sz="1600">
              <a:ea typeface="Calibri"/>
              <a:cs typeface="Calibri"/>
            </a:endParaRPr>
          </a:p>
          <a:p>
            <a:pPr>
              <a:lnSpc>
                <a:spcPct val="90000"/>
              </a:lnSpc>
              <a:buClr>
                <a:srgbClr val="FFFFFF"/>
              </a:buClr>
            </a:pPr>
            <a:r>
              <a:rPr lang="en-US" sz="1600" err="1">
                <a:latin typeface="Consolas"/>
              </a:rPr>
              <a:t>commonpath</a:t>
            </a:r>
            <a:r>
              <a:rPr lang="en-US" sz="1600">
                <a:latin typeface="Consolas"/>
              </a:rPr>
              <a:t>()</a:t>
            </a:r>
            <a:r>
              <a:rPr lang="en-US" sz="1600">
                <a:ea typeface="+mn-lt"/>
                <a:cs typeface="+mn-lt"/>
              </a:rPr>
              <a:t> makes sure the file stays inside </a:t>
            </a:r>
            <a:r>
              <a:rPr lang="en-US" sz="1600">
                <a:latin typeface="Consolas"/>
              </a:rPr>
              <a:t>DOCUMENT_ROOT</a:t>
            </a:r>
            <a:r>
              <a:rPr lang="en-US" sz="1600">
                <a:ea typeface="+mn-lt"/>
                <a:cs typeface="+mn-lt"/>
              </a:rPr>
              <a:t>.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endParaRPr lang="en-US" sz="17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4CD812-0A8F-0C17-8349-D7AD02D12E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113527"/>
            <a:ext cx="6095593" cy="246871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259277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A55CF6-57A8-0C35-892C-81B011776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672356"/>
            <a:ext cx="7561007" cy="14533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Running the Mitigated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D76A03-EA0C-2727-1086-5873EF8E3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376242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Run the application using: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latin typeface="Consolas"/>
              </a:rPr>
              <a:t> python .\app_mitigated.py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Flask starts on:</a:t>
            </a:r>
            <a:endParaRPr lang="en-US">
              <a:ea typeface="Calibri"/>
              <a:cs typeface="Calibri"/>
            </a:endParaRP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latin typeface="Consolas"/>
                <a:hlinkClick r:id="" action="ppaction://noaction"/>
              </a:rPr>
              <a:t> http://127.0.0.1:5001</a:t>
            </a:r>
            <a:endParaRPr lang="en-US">
              <a:ea typeface="Calibri" panose="020F0502020204030204"/>
              <a:cs typeface="Calibri" panose="020F0502020204030204"/>
              <a:hlinkClick r:id="" action="ppaction://noaction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Debug mode is disabled.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Test the </a:t>
            </a:r>
            <a:r>
              <a:rPr lang="en-US">
                <a:latin typeface="Consolas"/>
              </a:rPr>
              <a:t>/download</a:t>
            </a:r>
            <a:r>
              <a:rPr lang="en-US">
                <a:ea typeface="+mn-lt"/>
                <a:cs typeface="+mn-lt"/>
              </a:rPr>
              <a:t> endpoint with a valid file such as </a:t>
            </a:r>
            <a:r>
              <a:rPr lang="en-US">
                <a:latin typeface="Consolas"/>
              </a:rPr>
              <a:t>welcome.txt</a:t>
            </a:r>
            <a:r>
              <a:rPr lang="en-US">
                <a:ea typeface="+mn-lt"/>
                <a:cs typeface="+mn-lt"/>
              </a:rPr>
              <a:t>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Invalid or malicious filenames are rejected.</a:t>
            </a:r>
            <a:endParaRPr lang="en-US"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endParaRPr lang="en-US">
              <a:ea typeface="Calibri"/>
              <a:cs typeface="Calibri"/>
            </a:endParaRPr>
          </a:p>
        </p:txBody>
      </p:sp>
      <p:pic>
        <p:nvPicPr>
          <p:cNvPr id="4" name="Picture 3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0F2F8682-05E6-8A3C-357D-54FB550A81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9752" y="2951671"/>
            <a:ext cx="6095593" cy="79242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65347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B5222-0449-6520-9263-8D4A7A2DD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249-67D1-239C-DEBB-66F1C0CEC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527" y="452379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Verification of Mitigation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FADC2A34-86B9-D729-0BEE-8F614BB4C6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8477795"/>
              </p:ext>
            </p:extLst>
          </p:nvPr>
        </p:nvGraphicFramePr>
        <p:xfrm>
          <a:off x="684834" y="2550257"/>
          <a:ext cx="5959045" cy="2672279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824193">
                  <a:extLst>
                    <a:ext uri="{9D8B030D-6E8A-4147-A177-3AD203B41FA5}">
                      <a16:colId xmlns:a16="http://schemas.microsoft.com/office/drawing/2014/main" val="2229757001"/>
                    </a:ext>
                  </a:extLst>
                </a:gridCol>
                <a:gridCol w="1655941">
                  <a:extLst>
                    <a:ext uri="{9D8B030D-6E8A-4147-A177-3AD203B41FA5}">
                      <a16:colId xmlns:a16="http://schemas.microsoft.com/office/drawing/2014/main" val="694343327"/>
                    </a:ext>
                  </a:extLst>
                </a:gridCol>
                <a:gridCol w="2478911">
                  <a:extLst>
                    <a:ext uri="{9D8B030D-6E8A-4147-A177-3AD203B41FA5}">
                      <a16:colId xmlns:a16="http://schemas.microsoft.com/office/drawing/2014/main" val="3732293559"/>
                    </a:ext>
                  </a:extLst>
                </a:gridCol>
              </a:tblGrid>
              <a:tr h="38018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Test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Vulnerable app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5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Mitigated app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46804817"/>
                  </a:ext>
                </a:extLst>
              </a:tr>
              <a:tr h="36068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 dirty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file=welcome.txt (legitimate)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200, file served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200, file served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0536279"/>
                  </a:ext>
                </a:extLst>
              </a:tr>
              <a:tr h="36068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file=../secret_config.txt (exploit)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200, DB credentials leaked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400 Invalid filename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8304536"/>
                  </a:ext>
                </a:extLst>
              </a:tr>
              <a:tr h="36068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Variants: ..%2f, ..\, ....//, absolute path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Some succeed, some fail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Rejected (400 / 403)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9869676"/>
                  </a:ext>
                </a:extLst>
              </a:tr>
              <a:tr h="360687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pt_detector.py verdict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COMPROMISED (exit 1)</a:t>
                      </a:r>
                      <a:endParaRPr lang="en-US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400" b="0" i="0" dirty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No TRAVERSAL_SUCCESS, attempts only</a:t>
                      </a:r>
                      <a:endParaRPr lang="en-US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49441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FE52546E-CAB9-4F4F-29AA-96A5FCFF568B}"/>
              </a:ext>
            </a:extLst>
          </p:cNvPr>
          <p:cNvSpPr txBox="1"/>
          <p:nvPr/>
        </p:nvSpPr>
        <p:spPr>
          <a:xfrm>
            <a:off x="571500" y="1783324"/>
            <a:ext cx="8505825" cy="86177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0" i="0" u="none" strike="noStrike" baseline="0" dirty="0">
                <a:latin typeface="Calibri"/>
              </a:rPr>
              <a:t>Same exploit, same detector, run against the vulnerable app (5000) and </a:t>
            </a:r>
            <a:endParaRPr lang="en-US" dirty="0">
              <a:latin typeface="Calibri"/>
            </a:endParaRPr>
          </a:p>
          <a:p>
            <a:r>
              <a:rPr lang="en-US" sz="1600" b="0" i="0" u="none" strike="noStrike" baseline="0" dirty="0">
                <a:latin typeface="Calibri"/>
              </a:rPr>
              <a:t>the mitigated app (5001)</a:t>
            </a:r>
            <a:r>
              <a:rPr lang="en-US" sz="1600" b="0" i="0" dirty="0">
                <a:latin typeface="Calibri"/>
                <a:ea typeface="Calibri"/>
                <a:cs typeface="Calibri"/>
              </a:rPr>
              <a:t>​</a:t>
            </a:r>
            <a:endParaRPr lang="en-US" dirty="0">
              <a:ea typeface="Calibri"/>
              <a:cs typeface="Calibri"/>
            </a:endParaRPr>
          </a:p>
          <a:p>
            <a:pPr algn="ctr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8DAC16E-A777-22D1-0F7C-282AA4E74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7923" y="1220828"/>
            <a:ext cx="4019550" cy="239077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376ABCC-26A9-84AB-D834-142398AAA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8524" y="4253214"/>
            <a:ext cx="4114800" cy="220980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F7DF24C-0831-DF4B-0957-14E6657BDA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906" y="5457644"/>
            <a:ext cx="4305300" cy="1247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60780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CBECFFDC-94DB-4DA3-94FE-22FEDDA8FA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23A4A2D4-8C12-85D0-C186-F8BF8456983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" b="9199"/>
          <a:stretch>
            <a:fillRect/>
          </a:stretch>
        </p:blipFill>
        <p:spPr>
          <a:xfrm>
            <a:off x="4650461" y="975"/>
            <a:ext cx="7552924" cy="685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8BF0107-3463-486E-B9EE-5A5727B4F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06DDF324-348C-51C2-C4A8-43DCC726AF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02" y="3787825"/>
            <a:ext cx="6295924" cy="1669624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4800" b="1" dirty="0">
                <a:latin typeface="Calibri"/>
                <a:ea typeface="Calibri"/>
                <a:cs typeface="Calibri"/>
              </a:rPr>
              <a:t>Vulnerability 2: </a:t>
            </a:r>
            <a:br>
              <a:rPr lang="en-US" sz="4800" b="1" dirty="0">
                <a:latin typeface="Calibri"/>
                <a:ea typeface="Calibri"/>
                <a:cs typeface="Calibri"/>
              </a:rPr>
            </a:br>
            <a:r>
              <a:rPr lang="en-US" sz="4800" b="1" dirty="0">
                <a:latin typeface="Calibri"/>
                <a:ea typeface="Calibri"/>
                <a:cs typeface="Calibri"/>
              </a:rPr>
              <a:t>WEB CACHE POISONING</a:t>
            </a:r>
          </a:p>
        </p:txBody>
      </p:sp>
    </p:spTree>
    <p:extLst>
      <p:ext uri="{BB962C8B-B14F-4D97-AF65-F5344CB8AC3E}">
        <p14:creationId xmlns:p14="http://schemas.microsoft.com/office/powerpoint/2010/main" val="83003092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915BAB-0E94-5826-3539-BAD8AAC43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26A4D7-BAD9-C5D0-9041-015D44C0CF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Vulnerable Code</a:t>
            </a:r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264B3B96-F2DD-A51C-D24A-4D8EA0F645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6436" y="2231717"/>
            <a:ext cx="6990715" cy="24574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342B458-B594-B575-B8B1-AEE8E22418A2}"/>
              </a:ext>
            </a:extLst>
          </p:cNvPr>
          <p:cNvSpPr txBox="1"/>
          <p:nvPr/>
        </p:nvSpPr>
        <p:spPr>
          <a:xfrm>
            <a:off x="682451" y="1747956"/>
            <a:ext cx="977392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dirty="0">
                <a:ea typeface="Calibri"/>
                <a:cs typeface="Calibri"/>
              </a:rPr>
              <a:t>A Flask password-reset page uses an in-memory cache to store responses for /forgot-password.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1BD63F-8803-F6A0-CC0E-9E2150C42680}"/>
              </a:ext>
            </a:extLst>
          </p:cNvPr>
          <p:cNvSpPr/>
          <p:nvPr/>
        </p:nvSpPr>
        <p:spPr>
          <a:xfrm>
            <a:off x="7928858" y="2474214"/>
            <a:ext cx="3538467" cy="19216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9AD5482-AA0C-F9CA-4988-B143734D0B6B}"/>
              </a:ext>
            </a:extLst>
          </p:cNvPr>
          <p:cNvSpPr txBox="1"/>
          <p:nvPr/>
        </p:nvSpPr>
        <p:spPr>
          <a:xfrm>
            <a:off x="8034319" y="2615170"/>
            <a:ext cx="3342491" cy="19389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Root Cause of the Vulnerability</a:t>
            </a:r>
          </a:p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The key uses only the path. The header changes the link. The app caches that link and reuses it for later requests.</a:t>
            </a:r>
          </a:p>
          <a:p>
            <a:pPr marL="0" indent="0" algn="l"/>
            <a:endParaRPr lang="en-US" sz="1600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8ABB85-0FE5-EDDC-C2D4-E7EB3934AA95}"/>
              </a:ext>
            </a:extLst>
          </p:cNvPr>
          <p:cNvSpPr txBox="1"/>
          <p:nvPr/>
        </p:nvSpPr>
        <p:spPr>
          <a:xfrm>
            <a:off x="683558" y="5148595"/>
            <a:ext cx="1579582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>
                <a:latin typeface="Calibri"/>
                <a:ea typeface="Calibri"/>
                <a:cs typeface="Calibri"/>
              </a:rPr>
              <a:t>Code Weakness</a:t>
            </a:r>
            <a:endParaRPr lang="en-US" dirty="0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36402D9-675C-760B-C8EB-DB1AFF255DD2}"/>
              </a:ext>
            </a:extLst>
          </p:cNvPr>
          <p:cNvSpPr/>
          <p:nvPr/>
        </p:nvSpPr>
        <p:spPr>
          <a:xfrm>
            <a:off x="2188458" y="5004054"/>
            <a:ext cx="3894067" cy="12104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06D55EB-0135-DBE2-4829-EE53F8EB24E0}"/>
              </a:ext>
            </a:extLst>
          </p:cNvPr>
          <p:cNvSpPr txBox="1"/>
          <p:nvPr/>
        </p:nvSpPr>
        <p:spPr>
          <a:xfrm>
            <a:off x="2377440" y="5218969"/>
            <a:ext cx="239776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 b="1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No header </a:t>
            </a:r>
            <a:r>
              <a:rPr lang="en-US" sz="1600" b="1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validation</a:t>
            </a:r>
            <a:endParaRPr lang="en-US" sz="1600" b="1" kern="1200">
              <a:solidFill>
                <a:schemeClr val="bg1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2F513EB-131E-0E1E-A001-B6B10195B4DA}"/>
              </a:ext>
            </a:extLst>
          </p:cNvPr>
          <p:cNvSpPr txBox="1"/>
          <p:nvPr/>
        </p:nvSpPr>
        <p:spPr>
          <a:xfrm>
            <a:off x="2377440" y="5605049"/>
            <a:ext cx="36068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 rtl="0"/>
            <a:r>
              <a:rPr lang="en-US" sz="1600" b="0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The header sets the host without checks.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A65F6A-6156-4F90-D1E6-6836BADF27F9}"/>
              </a:ext>
            </a:extLst>
          </p:cNvPr>
          <p:cNvSpPr/>
          <p:nvPr/>
        </p:nvSpPr>
        <p:spPr>
          <a:xfrm>
            <a:off x="6465818" y="5004054"/>
            <a:ext cx="3894067" cy="121048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F035B3-FAAD-3592-373D-3A476C2F63D4}"/>
              </a:ext>
            </a:extLst>
          </p:cNvPr>
          <p:cNvSpPr txBox="1"/>
          <p:nvPr/>
        </p:nvSpPr>
        <p:spPr>
          <a:xfrm>
            <a:off x="6654800" y="5229129"/>
            <a:ext cx="25806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>
                <a:solidFill>
                  <a:schemeClr val="bg1"/>
                </a:solidFill>
                <a:ea typeface="Calibri"/>
                <a:cs typeface="Calibri"/>
              </a:rPr>
              <a:t>Incomplete Cache Key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A30B1D8-AF1B-A8F6-E9DC-D1B06CD6FC29}"/>
              </a:ext>
            </a:extLst>
          </p:cNvPr>
          <p:cNvSpPr txBox="1"/>
          <p:nvPr/>
        </p:nvSpPr>
        <p:spPr>
          <a:xfrm>
            <a:off x="6654800" y="5605049"/>
            <a:ext cx="359664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Different headers share one cache entry</a:t>
            </a:r>
            <a:r>
              <a:rPr lang="en-US" sz="1600" b="0" kern="120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7842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2C983-4193-3D26-C235-9F86B80D9C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A5A72B-54E7-A3E8-9B35-8129AA7E9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What is Web Cache Poisoning and Why It Matters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F6A488-0BAC-2493-4FA1-99C249BF80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967379"/>
            <a:ext cx="10131425" cy="764389"/>
          </a:xfrm>
        </p:spPr>
        <p:txBody>
          <a:bodyPr>
            <a:normAutofit/>
          </a:bodyPr>
          <a:lstStyle/>
          <a:p>
            <a:r>
              <a:rPr lang="en-US" sz="1600" dirty="0">
                <a:ea typeface="Calibri"/>
                <a:cs typeface="Calibri"/>
              </a:rPr>
              <a:t>Web Cache Poisoning occurs when an attacker manipulates a response that a shared cache stores and serves to other users. In our app, X-Forwarded-Host changes the reset link while the cache key remains the same.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7BB05841-0956-882F-6847-504C29270B83}"/>
              </a:ext>
            </a:extLst>
          </p:cNvPr>
          <p:cNvSpPr txBox="1">
            <a:spLocks/>
          </p:cNvSpPr>
          <p:nvPr/>
        </p:nvSpPr>
        <p:spPr>
          <a:xfrm>
            <a:off x="690210" y="2557266"/>
            <a:ext cx="3747667" cy="92377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FFFFFF"/>
              </a:buClr>
              <a:buNone/>
            </a:pPr>
            <a:r>
              <a:rPr lang="en-US" sz="2000" b="1">
                <a:ea typeface="Calibri" panose="020F0502020204030204"/>
                <a:cs typeface="Calibri" panose="020F0502020204030204"/>
              </a:rPr>
              <a:t>Why it's Common and Significant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F1B8EBC-344C-C08B-5F9B-83147F486188}"/>
              </a:ext>
            </a:extLst>
          </p:cNvPr>
          <p:cNvSpPr/>
          <p:nvPr/>
        </p:nvSpPr>
        <p:spPr>
          <a:xfrm>
            <a:off x="877540" y="3469366"/>
            <a:ext cx="3765092" cy="11895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2479BEC-D762-F364-0073-90E792F33B88}"/>
              </a:ext>
            </a:extLst>
          </p:cNvPr>
          <p:cNvSpPr/>
          <p:nvPr/>
        </p:nvSpPr>
        <p:spPr>
          <a:xfrm>
            <a:off x="1051497" y="383272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384AD48-D6BC-CFEF-3B22-6926BE09F26D}"/>
              </a:ext>
            </a:extLst>
          </p:cNvPr>
          <p:cNvSpPr txBox="1"/>
          <p:nvPr/>
        </p:nvSpPr>
        <p:spPr>
          <a:xfrm>
            <a:off x="1106112" y="3876124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1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93719B7-F5E8-5BC4-5FA1-C8F37A216422}"/>
              </a:ext>
            </a:extLst>
          </p:cNvPr>
          <p:cNvSpPr txBox="1"/>
          <p:nvPr/>
        </p:nvSpPr>
        <p:spPr>
          <a:xfrm>
            <a:off x="1604788" y="3777728"/>
            <a:ext cx="26619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Untrusted input changes the content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6B816F02-7DE7-F8AA-134F-1BA9E2EFD058}"/>
              </a:ext>
            </a:extLst>
          </p:cNvPr>
          <p:cNvSpPr/>
          <p:nvPr/>
        </p:nvSpPr>
        <p:spPr>
          <a:xfrm>
            <a:off x="877540" y="4871446"/>
            <a:ext cx="3765092" cy="11895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02B0E53-2EA6-3A22-BB2F-6FC555C4A461}"/>
              </a:ext>
            </a:extLst>
          </p:cNvPr>
          <p:cNvSpPr txBox="1"/>
          <p:nvPr/>
        </p:nvSpPr>
        <p:spPr>
          <a:xfrm>
            <a:off x="1604787" y="5169647"/>
            <a:ext cx="26619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Poisonous content reaches the users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B067F3A-B7EC-1B95-B4EF-BD705650BADB}"/>
              </a:ext>
            </a:extLst>
          </p:cNvPr>
          <p:cNvSpPr/>
          <p:nvPr/>
        </p:nvSpPr>
        <p:spPr>
          <a:xfrm>
            <a:off x="1051497" y="520432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BFECDAF-26DA-DF43-A593-67158DE965F5}"/>
              </a:ext>
            </a:extLst>
          </p:cNvPr>
          <p:cNvSpPr txBox="1"/>
          <p:nvPr/>
        </p:nvSpPr>
        <p:spPr>
          <a:xfrm>
            <a:off x="1116828" y="5257327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3</a:t>
            </a:r>
            <a:endParaRPr lang="en-US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7BF5D42B-CC80-67D6-DEEF-E57F3CCEF215}"/>
              </a:ext>
            </a:extLst>
          </p:cNvPr>
          <p:cNvSpPr/>
          <p:nvPr/>
        </p:nvSpPr>
        <p:spPr>
          <a:xfrm>
            <a:off x="6678900" y="3469366"/>
            <a:ext cx="3765092" cy="11895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C0E22F3F-2A33-A98D-2D0D-44F6F656489E}"/>
              </a:ext>
            </a:extLst>
          </p:cNvPr>
          <p:cNvSpPr/>
          <p:nvPr/>
        </p:nvSpPr>
        <p:spPr>
          <a:xfrm>
            <a:off x="6852857" y="383272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E4ACDB1-712E-F30A-CE4E-325CC5B6B026}"/>
              </a:ext>
            </a:extLst>
          </p:cNvPr>
          <p:cNvSpPr txBox="1"/>
          <p:nvPr/>
        </p:nvSpPr>
        <p:spPr>
          <a:xfrm>
            <a:off x="6928348" y="3886562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2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B14F4232-156B-BFFA-5B3D-95049BBF1061}"/>
              </a:ext>
            </a:extLst>
          </p:cNvPr>
          <p:cNvSpPr txBox="1"/>
          <p:nvPr/>
        </p:nvSpPr>
        <p:spPr>
          <a:xfrm>
            <a:off x="7477267" y="3859007"/>
            <a:ext cx="25806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Incomplete Cache Keys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DAAD3A5-4721-5925-AFFA-DDF3F85923E6}"/>
              </a:ext>
            </a:extLst>
          </p:cNvPr>
          <p:cNvSpPr/>
          <p:nvPr/>
        </p:nvSpPr>
        <p:spPr>
          <a:xfrm>
            <a:off x="6699220" y="4871444"/>
            <a:ext cx="3765092" cy="118957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>
              <a:ea typeface="Calibri"/>
              <a:cs typeface="Calibri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9B968F8-03A6-010A-4CE9-F61850523717}"/>
              </a:ext>
            </a:extLst>
          </p:cNvPr>
          <p:cNvSpPr txBox="1"/>
          <p:nvPr/>
        </p:nvSpPr>
        <p:spPr>
          <a:xfrm>
            <a:off x="7345187" y="5200127"/>
            <a:ext cx="2712720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Phishing risk and loss of trust</a:t>
            </a: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BED3D3A4-B2F9-E3D1-A1E6-F6BC51E44D7B}"/>
              </a:ext>
            </a:extLst>
          </p:cNvPr>
          <p:cNvSpPr/>
          <p:nvPr/>
        </p:nvSpPr>
        <p:spPr>
          <a:xfrm>
            <a:off x="6873177" y="5204323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62EB6F4-1F59-210D-DB1E-BDB1E2313C81}"/>
              </a:ext>
            </a:extLst>
          </p:cNvPr>
          <p:cNvSpPr txBox="1"/>
          <p:nvPr/>
        </p:nvSpPr>
        <p:spPr>
          <a:xfrm>
            <a:off x="6938508" y="5257327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34769633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34EFDB-2606-E074-6D11-05A84A8CD9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E4326-E41C-BE71-7C12-8BF46A03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Exploitation Code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14E62207-A5FC-8575-5DF8-D26ACD858DF1}"/>
              </a:ext>
            </a:extLst>
          </p:cNvPr>
          <p:cNvSpPr txBox="1">
            <a:spLocks/>
          </p:cNvSpPr>
          <p:nvPr/>
        </p:nvSpPr>
        <p:spPr>
          <a:xfrm>
            <a:off x="685801" y="1731082"/>
            <a:ext cx="10131425" cy="62869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>
                <a:ea typeface="Calibri"/>
                <a:cs typeface="Calibri"/>
              </a:rPr>
              <a:t>exploit.py clears the cache, sends a fake forwarded host, then requests the same page without that header.</a:t>
            </a:r>
          </a:p>
        </p:txBody>
      </p:sp>
      <p:pic>
        <p:nvPicPr>
          <p:cNvPr id="7" name="Picture 6" descr="A screen shot of a computer&#10;&#10;AI-generated content may be incorrect.">
            <a:extLst>
              <a:ext uri="{FF2B5EF4-FFF2-40B4-BE49-F238E27FC236}">
                <a16:creationId xmlns:a16="http://schemas.microsoft.com/office/drawing/2014/main" id="{42215150-2248-93E5-F7E8-0273C19B82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562" y="2753698"/>
            <a:ext cx="6543675" cy="1200150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E9514C-BC88-3CA7-FA0D-3C4177DF87EB}"/>
              </a:ext>
            </a:extLst>
          </p:cNvPr>
          <p:cNvSpPr txBox="1">
            <a:spLocks/>
          </p:cNvSpPr>
          <p:nvPr/>
        </p:nvSpPr>
        <p:spPr>
          <a:xfrm>
            <a:off x="690210" y="2277029"/>
            <a:ext cx="4611267" cy="598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Step 1: Attacker sends a poisoned header request 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EA7B1413-9253-A18C-AB7C-D71ED6F6B5D7}"/>
              </a:ext>
            </a:extLst>
          </p:cNvPr>
          <p:cNvSpPr txBox="1">
            <a:spLocks/>
          </p:cNvSpPr>
          <p:nvPr/>
        </p:nvSpPr>
        <p:spPr>
          <a:xfrm>
            <a:off x="690210" y="3963589"/>
            <a:ext cx="4611267" cy="598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Step 2: Request as a normal user </a:t>
            </a:r>
          </a:p>
        </p:txBody>
      </p:sp>
      <p:pic>
        <p:nvPicPr>
          <p:cNvPr id="13" name="Picture 12" descr="A black screen with text&#10;&#10;AI-generated content may be incorrect.">
            <a:extLst>
              <a:ext uri="{FF2B5EF4-FFF2-40B4-BE49-F238E27FC236}">
                <a16:creationId xmlns:a16="http://schemas.microsoft.com/office/drawing/2014/main" id="{FB2FA36D-6A0C-1E2E-82D8-C345F93CA1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022" y="4454228"/>
            <a:ext cx="6162675" cy="1009650"/>
          </a:xfrm>
          <a:prstGeom prst="rect">
            <a:avLst/>
          </a:prstGeom>
        </p:spPr>
      </p:pic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02005455-406A-3EEA-0C89-D3FAA2D7E26E}"/>
              </a:ext>
            </a:extLst>
          </p:cNvPr>
          <p:cNvSpPr txBox="1">
            <a:spLocks/>
          </p:cNvSpPr>
          <p:nvPr/>
        </p:nvSpPr>
        <p:spPr>
          <a:xfrm>
            <a:off x="7355170" y="3048632"/>
            <a:ext cx="4611267" cy="598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ea typeface="Calibri"/>
                <a:cs typeface="Calibri"/>
              </a:rPr>
              <a:t>Expected output</a:t>
            </a:r>
            <a:endParaRPr lang="en-US"/>
          </a:p>
        </p:txBody>
      </p:sp>
      <p:pic>
        <p:nvPicPr>
          <p:cNvPr id="17" name="Picture 16" descr="A computer screen with white text&#10;&#10;AI-generated content may be incorrect.">
            <a:extLst>
              <a:ext uri="{FF2B5EF4-FFF2-40B4-BE49-F238E27FC236}">
                <a16:creationId xmlns:a16="http://schemas.microsoft.com/office/drawing/2014/main" id="{8C4F97E1-6787-9A91-66D4-13F5757352C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44728" y="3561814"/>
            <a:ext cx="4512945" cy="152336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BB4A37-6E5E-69D6-52D9-2DEBDD0F31D4}"/>
              </a:ext>
            </a:extLst>
          </p:cNvPr>
          <p:cNvSpPr txBox="1">
            <a:spLocks/>
          </p:cNvSpPr>
          <p:nvPr/>
        </p:nvSpPr>
        <p:spPr>
          <a:xfrm>
            <a:off x="690209" y="5523358"/>
            <a:ext cx="11166553" cy="59865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857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8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6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200150" indent="-2857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4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5430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00250" indent="-17145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0"/>
              </a:spcBef>
              <a:spcAft>
                <a:spcPts val="1000"/>
              </a:spcAft>
              <a:buClr>
                <a:schemeClr val="tx1"/>
              </a:buClr>
              <a:buSzPct val="100000"/>
              <a:buFont typeface="Arial"/>
              <a:buChar char="•"/>
              <a:defRPr sz="1200" kern="1200" cap="none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b="1">
                <a:ea typeface="+mn-lt"/>
                <a:cs typeface="+mn-lt"/>
              </a:rPr>
              <a:t>Finally normal user receive the attacker’s link because it is already stored in the cache, even though they did not send a fake header.</a:t>
            </a:r>
            <a:endParaRPr lang="en-US" b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8294713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EDA4E-9F9D-204C-0FEE-25E4033573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C08E9F-7B8F-0C3F-4670-6BCE828872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Impact and Consequences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B4244E-2F65-A6C8-AADB-85DC442B2BF9}"/>
              </a:ext>
            </a:extLst>
          </p:cNvPr>
          <p:cNvSpPr/>
          <p:nvPr/>
        </p:nvSpPr>
        <p:spPr>
          <a:xfrm>
            <a:off x="804471" y="1945366"/>
            <a:ext cx="10226434" cy="9286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700">
              <a:solidFill>
                <a:srgbClr val="151515"/>
              </a:solidFill>
              <a:ea typeface="Calibri"/>
              <a:cs typeface="Calibri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6629A2D-E664-E78A-4B71-44B901243738}"/>
              </a:ext>
            </a:extLst>
          </p:cNvPr>
          <p:cNvSpPr/>
          <p:nvPr/>
        </p:nvSpPr>
        <p:spPr>
          <a:xfrm>
            <a:off x="978428" y="2225216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907F508-6943-BB89-200A-864899FE583E}"/>
              </a:ext>
            </a:extLst>
          </p:cNvPr>
          <p:cNvSpPr txBox="1"/>
          <p:nvPr/>
        </p:nvSpPr>
        <p:spPr>
          <a:xfrm>
            <a:off x="1043483" y="2268617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1</a:t>
            </a:r>
            <a:endParaRPr lang="en-US" sz="3200" b="1">
              <a:latin typeface="Calibri"/>
              <a:ea typeface="Calibri"/>
              <a:cs typeface="Calibri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32F3D7-8309-0DAF-BB00-F5BBBE8F9BB6}"/>
              </a:ext>
            </a:extLst>
          </p:cNvPr>
          <p:cNvSpPr txBox="1"/>
          <p:nvPr/>
        </p:nvSpPr>
        <p:spPr>
          <a:xfrm>
            <a:off x="1583911" y="2274605"/>
            <a:ext cx="2348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Poisoned Responses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D1524AEC-296D-50FC-DC23-58F4C2B9BEF0}"/>
              </a:ext>
            </a:extLst>
          </p:cNvPr>
          <p:cNvCxnSpPr>
            <a:cxnSpLocks/>
          </p:cNvCxnSpPr>
          <p:nvPr/>
        </p:nvCxnSpPr>
        <p:spPr>
          <a:xfrm flipH="1">
            <a:off x="4116790" y="1946874"/>
            <a:ext cx="15891" cy="928545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7DF0989-7A2A-D9FF-DADA-4FC9800B2C0B}"/>
              </a:ext>
            </a:extLst>
          </p:cNvPr>
          <p:cNvSpPr txBox="1"/>
          <p:nvPr/>
        </p:nvSpPr>
        <p:spPr>
          <a:xfrm>
            <a:off x="4227534" y="2145083"/>
            <a:ext cx="6440465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algn="l"/>
            <a:r>
              <a:rPr lang="en-US" sz="1600">
                <a:solidFill>
                  <a:srgbClr val="151515"/>
                </a:solidFill>
                <a:latin typeface="Calibri"/>
                <a:ea typeface="Calibri"/>
                <a:cs typeface="Calibri"/>
              </a:rPr>
              <a:t>A normal request receives a cached reset link pointing to the attacker’s host.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BBB0BC75-C822-EBB8-0BFC-AA475EAEFDA1}"/>
              </a:ext>
            </a:extLst>
          </p:cNvPr>
          <p:cNvSpPr/>
          <p:nvPr/>
        </p:nvSpPr>
        <p:spPr>
          <a:xfrm>
            <a:off x="825347" y="3072707"/>
            <a:ext cx="10226434" cy="9286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700">
              <a:solidFill>
                <a:srgbClr val="151515"/>
              </a:solidFill>
              <a:ea typeface="Calibri"/>
              <a:cs typeface="Calibri"/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612257A-0F2E-BDAE-A204-96F2C95429D9}"/>
              </a:ext>
            </a:extLst>
          </p:cNvPr>
          <p:cNvSpPr/>
          <p:nvPr/>
        </p:nvSpPr>
        <p:spPr>
          <a:xfrm>
            <a:off x="999305" y="3352558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0796B51-206A-5188-79C6-BE62C2414769}"/>
              </a:ext>
            </a:extLst>
          </p:cNvPr>
          <p:cNvSpPr txBox="1"/>
          <p:nvPr/>
        </p:nvSpPr>
        <p:spPr>
          <a:xfrm>
            <a:off x="1064359" y="3395958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2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EE0084-610D-81F3-30DC-59F7E5F5907C}"/>
              </a:ext>
            </a:extLst>
          </p:cNvPr>
          <p:cNvSpPr txBox="1"/>
          <p:nvPr/>
        </p:nvSpPr>
        <p:spPr>
          <a:xfrm>
            <a:off x="1604788" y="3401946"/>
            <a:ext cx="2348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Phishing Risk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17E68F3A-C76A-2A27-64A4-FAD4F22854CB}"/>
              </a:ext>
            </a:extLst>
          </p:cNvPr>
          <p:cNvCxnSpPr>
            <a:cxnSpLocks/>
          </p:cNvCxnSpPr>
          <p:nvPr/>
        </p:nvCxnSpPr>
        <p:spPr>
          <a:xfrm flipH="1">
            <a:off x="4106352" y="3074216"/>
            <a:ext cx="15891" cy="928545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ABC67CCA-23CC-5984-B734-F7A096DE01AD}"/>
              </a:ext>
            </a:extLst>
          </p:cNvPr>
          <p:cNvSpPr txBox="1"/>
          <p:nvPr/>
        </p:nvSpPr>
        <p:spPr>
          <a:xfrm>
            <a:off x="4248411" y="3272425"/>
            <a:ext cx="644046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rgbClr val="151515"/>
                </a:solidFill>
                <a:latin typeface="Calibri"/>
                <a:ea typeface="Calibri"/>
                <a:cs typeface="Calibri"/>
              </a:rPr>
              <a:t>A user who follows the misleading link could reach a malicious destination.</a:t>
            </a:r>
            <a:endParaRPr lang="en-US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42E52E82-EC39-E18D-C03A-467B940A1DC7}"/>
              </a:ext>
            </a:extLst>
          </p:cNvPr>
          <p:cNvSpPr/>
          <p:nvPr/>
        </p:nvSpPr>
        <p:spPr>
          <a:xfrm>
            <a:off x="814909" y="4179172"/>
            <a:ext cx="10226434" cy="9286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700">
              <a:solidFill>
                <a:srgbClr val="151515"/>
              </a:solidFill>
              <a:ea typeface="Calibri"/>
              <a:cs typeface="Calibri"/>
            </a:endParaRP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23A4630-6E54-52B7-CAFE-B164717B1750}"/>
              </a:ext>
            </a:extLst>
          </p:cNvPr>
          <p:cNvSpPr/>
          <p:nvPr/>
        </p:nvSpPr>
        <p:spPr>
          <a:xfrm>
            <a:off x="988866" y="4459024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32545A9-7306-CEA0-0689-C51CA1EE7BBF}"/>
              </a:ext>
            </a:extLst>
          </p:cNvPr>
          <p:cNvSpPr txBox="1"/>
          <p:nvPr/>
        </p:nvSpPr>
        <p:spPr>
          <a:xfrm>
            <a:off x="1053920" y="4502423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3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AA141EDB-A94F-961E-99B3-106D30D57809}"/>
              </a:ext>
            </a:extLst>
          </p:cNvPr>
          <p:cNvSpPr txBox="1"/>
          <p:nvPr/>
        </p:nvSpPr>
        <p:spPr>
          <a:xfrm>
            <a:off x="1594349" y="4508411"/>
            <a:ext cx="2348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Wider exposure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17AFEBD-C2D5-56FD-77CC-ACF63262416F}"/>
              </a:ext>
            </a:extLst>
          </p:cNvPr>
          <p:cNvCxnSpPr>
            <a:cxnSpLocks/>
          </p:cNvCxnSpPr>
          <p:nvPr/>
        </p:nvCxnSpPr>
        <p:spPr>
          <a:xfrm flipH="1">
            <a:off x="4095913" y="4180682"/>
            <a:ext cx="15891" cy="928545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69A8FC5D-C086-8135-9273-876731FEB99F}"/>
              </a:ext>
            </a:extLst>
          </p:cNvPr>
          <p:cNvSpPr txBox="1"/>
          <p:nvPr/>
        </p:nvSpPr>
        <p:spPr>
          <a:xfrm>
            <a:off x="4237972" y="4378890"/>
            <a:ext cx="644046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rgbClr val="151515"/>
                </a:solidFill>
                <a:ea typeface="Calibri"/>
                <a:cs typeface="Calibri"/>
              </a:rPr>
              <a:t>The same poisoned entry may affect later requests until the cache is cleared.</a:t>
            </a:r>
            <a:endParaRPr lang="en-US"/>
          </a:p>
        </p:txBody>
      </p:sp>
      <p:sp>
        <p:nvSpPr>
          <p:cNvPr id="38" name="Rectangle: Rounded Corners 37">
            <a:extLst>
              <a:ext uri="{FF2B5EF4-FFF2-40B4-BE49-F238E27FC236}">
                <a16:creationId xmlns:a16="http://schemas.microsoft.com/office/drawing/2014/main" id="{677A6BF6-D978-530E-CE86-81A8C026929E}"/>
              </a:ext>
            </a:extLst>
          </p:cNvPr>
          <p:cNvSpPr/>
          <p:nvPr/>
        </p:nvSpPr>
        <p:spPr>
          <a:xfrm>
            <a:off x="835785" y="5337828"/>
            <a:ext cx="10226434" cy="928621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endParaRPr lang="en-US" sz="1700">
              <a:solidFill>
                <a:srgbClr val="151515"/>
              </a:solidFill>
              <a:ea typeface="Calibri"/>
              <a:cs typeface="Calibri"/>
            </a:endParaRP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63B0AFD7-551B-4990-F8A1-CEFB092685FA}"/>
              </a:ext>
            </a:extLst>
          </p:cNvPr>
          <p:cNvSpPr/>
          <p:nvPr/>
        </p:nvSpPr>
        <p:spPr>
          <a:xfrm>
            <a:off x="1009742" y="5617680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C08A02C5-014C-F24B-1A3B-6C9669D6B9CB}"/>
              </a:ext>
            </a:extLst>
          </p:cNvPr>
          <p:cNvSpPr txBox="1"/>
          <p:nvPr/>
        </p:nvSpPr>
        <p:spPr>
          <a:xfrm>
            <a:off x="1074796" y="5661080"/>
            <a:ext cx="397010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b="1">
                <a:latin typeface="Arial"/>
                <a:ea typeface="Calibri"/>
                <a:cs typeface="Arial"/>
              </a:rPr>
              <a:t>4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1207131C-647A-350E-08F7-2B7D2EACD868}"/>
              </a:ext>
            </a:extLst>
          </p:cNvPr>
          <p:cNvSpPr txBox="1"/>
          <p:nvPr/>
        </p:nvSpPr>
        <p:spPr>
          <a:xfrm>
            <a:off x="1615225" y="5667067"/>
            <a:ext cx="23487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bg1"/>
                </a:solidFill>
                <a:ea typeface="Calibri"/>
                <a:cs typeface="Calibri"/>
              </a:rPr>
              <a:t>Loss of trust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9C1D714-9F5B-F272-2719-5E41A716FEFE}"/>
              </a:ext>
            </a:extLst>
          </p:cNvPr>
          <p:cNvCxnSpPr>
            <a:cxnSpLocks/>
          </p:cNvCxnSpPr>
          <p:nvPr/>
        </p:nvCxnSpPr>
        <p:spPr>
          <a:xfrm flipH="1">
            <a:off x="4085474" y="5339338"/>
            <a:ext cx="15891" cy="928545"/>
          </a:xfrm>
          <a:prstGeom prst="straightConnector1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TextBox 42">
            <a:extLst>
              <a:ext uri="{FF2B5EF4-FFF2-40B4-BE49-F238E27FC236}">
                <a16:creationId xmlns:a16="http://schemas.microsoft.com/office/drawing/2014/main" id="{749D8C5A-0779-EF25-0E53-C8E56E366D15}"/>
              </a:ext>
            </a:extLst>
          </p:cNvPr>
          <p:cNvSpPr txBox="1"/>
          <p:nvPr/>
        </p:nvSpPr>
        <p:spPr>
          <a:xfrm>
            <a:off x="4258848" y="5537546"/>
            <a:ext cx="6440465" cy="6155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700">
                <a:solidFill>
                  <a:srgbClr val="151515"/>
                </a:solidFill>
                <a:ea typeface="Calibri"/>
                <a:cs typeface="Calibri"/>
              </a:rPr>
              <a:t>Malicious links presented by trusted service can damage user confidence.</a:t>
            </a:r>
          </a:p>
        </p:txBody>
      </p:sp>
    </p:spTree>
    <p:extLst>
      <p:ext uri="{BB962C8B-B14F-4D97-AF65-F5344CB8AC3E}">
        <p14:creationId xmlns:p14="http://schemas.microsoft.com/office/powerpoint/2010/main" val="116783327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189D7-9DD6-5BE9-4ECF-3DB5676EA2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7D356BC-C4F2-3788-EB2E-D7A3C4653EF4}"/>
              </a:ext>
            </a:extLst>
          </p:cNvPr>
          <p:cNvSpPr/>
          <p:nvPr/>
        </p:nvSpPr>
        <p:spPr>
          <a:xfrm>
            <a:off x="797106" y="5258471"/>
            <a:ext cx="5475462" cy="982809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73351A2-096B-3B6E-557B-839872A29A68}"/>
              </a:ext>
            </a:extLst>
          </p:cNvPr>
          <p:cNvSpPr/>
          <p:nvPr/>
        </p:nvSpPr>
        <p:spPr>
          <a:xfrm>
            <a:off x="800846" y="2355548"/>
            <a:ext cx="5475462" cy="1146488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967906E-35EF-FC38-1AAD-E9BD6363120F}"/>
              </a:ext>
            </a:extLst>
          </p:cNvPr>
          <p:cNvSpPr/>
          <p:nvPr/>
        </p:nvSpPr>
        <p:spPr>
          <a:xfrm>
            <a:off x="800846" y="3651304"/>
            <a:ext cx="5475461" cy="138605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 w="571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600" b="1">
              <a:solidFill>
                <a:schemeClr val="bg1"/>
              </a:solidFill>
              <a:ea typeface="Calibri"/>
              <a:cs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65F1A4-7B12-9EF6-BEC9-34F4BA047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Detection and Tracing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2107850-57AC-44BC-3567-70F5C512ED19}"/>
              </a:ext>
            </a:extLst>
          </p:cNvPr>
          <p:cNvSpPr/>
          <p:nvPr/>
        </p:nvSpPr>
        <p:spPr>
          <a:xfrm>
            <a:off x="860579" y="2439472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4">
            <a:extLst>
              <a:ext uri="{FF2B5EF4-FFF2-40B4-BE49-F238E27FC236}">
                <a16:creationId xmlns:a16="http://schemas.microsoft.com/office/drawing/2014/main" id="{B0C2C848-ACD6-24B6-8207-1FE725DA3327}"/>
              </a:ext>
            </a:extLst>
          </p:cNvPr>
          <p:cNvSpPr txBox="1"/>
          <p:nvPr/>
        </p:nvSpPr>
        <p:spPr>
          <a:xfrm>
            <a:off x="885933" y="24409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1.</a:t>
            </a:r>
            <a:endParaRPr lang="en-US" sz="1600"/>
          </a:p>
        </p:txBody>
      </p:sp>
      <p:sp>
        <p:nvSpPr>
          <p:cNvPr id="5" name="Text 5">
            <a:extLst>
              <a:ext uri="{FF2B5EF4-FFF2-40B4-BE49-F238E27FC236}">
                <a16:creationId xmlns:a16="http://schemas.microsoft.com/office/drawing/2014/main" id="{72FAEFF0-894B-A343-1C6F-0FFA5BD9CE9E}"/>
              </a:ext>
            </a:extLst>
          </p:cNvPr>
          <p:cNvSpPr txBox="1"/>
          <p:nvPr/>
        </p:nvSpPr>
        <p:spPr>
          <a:xfrm>
            <a:off x="1439203" y="235666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Instrument</a:t>
            </a:r>
            <a:endParaRPr lang="en-US" sz="180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56BF6E3-0B7D-0519-0CCE-8113FE96E8D6}"/>
              </a:ext>
            </a:extLst>
          </p:cNvPr>
          <p:cNvSpPr/>
          <p:nvPr/>
        </p:nvSpPr>
        <p:spPr>
          <a:xfrm>
            <a:off x="7651019" y="2770550"/>
            <a:ext cx="2801271" cy="846181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5C3BF06E-FF80-37DD-7599-44571A773C73}"/>
              </a:ext>
            </a:extLst>
          </p:cNvPr>
          <p:cNvSpPr txBox="1"/>
          <p:nvPr/>
        </p:nvSpPr>
        <p:spPr>
          <a:xfrm>
            <a:off x="782320" y="1733755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latin typeface="Calibri"/>
                <a:ea typeface="Calibri"/>
                <a:cs typeface="Calibri"/>
              </a:rPr>
              <a:t>Tools: instrumented_run.py + wcp_detector.py (app runs unchanged, one JSON log line per request)</a:t>
            </a:r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B49F83AF-4607-2F96-4BAA-6025CFF9493D}"/>
              </a:ext>
            </a:extLst>
          </p:cNvPr>
          <p:cNvSpPr txBox="1"/>
          <p:nvPr/>
        </p:nvSpPr>
        <p:spPr>
          <a:xfrm>
            <a:off x="1429043" y="2718390"/>
            <a:ext cx="4991004" cy="5141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1A0B2E"/>
                </a:solidFill>
                <a:latin typeface="Calibri"/>
                <a:ea typeface="Calibri"/>
                <a:cs typeface="Calibri"/>
              </a:rPr>
              <a:t>instrumented_run.py wraps the unchanged app and logs path, headers and cache result (MISS / HIT) for every request.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7" name="Text 9">
            <a:extLst>
              <a:ext uri="{FF2B5EF4-FFF2-40B4-BE49-F238E27FC236}">
                <a16:creationId xmlns:a16="http://schemas.microsoft.com/office/drawing/2014/main" id="{AEC1D943-6B66-5AA6-CE0D-8500345ACA0B}"/>
              </a:ext>
            </a:extLst>
          </p:cNvPr>
          <p:cNvSpPr txBox="1"/>
          <p:nvPr/>
        </p:nvSpPr>
        <p:spPr>
          <a:xfrm>
            <a:off x="875773" y="37377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/>
          </a:p>
        </p:txBody>
      </p:sp>
      <p:sp>
        <p:nvSpPr>
          <p:cNvPr id="8" name="Text 10">
            <a:extLst>
              <a:ext uri="{FF2B5EF4-FFF2-40B4-BE49-F238E27FC236}">
                <a16:creationId xmlns:a16="http://schemas.microsoft.com/office/drawing/2014/main" id="{E5B64D3E-CF0C-D668-0CAA-A3DED7D35C0C}"/>
              </a:ext>
            </a:extLst>
          </p:cNvPr>
          <p:cNvSpPr txBox="1"/>
          <p:nvPr/>
        </p:nvSpPr>
        <p:spPr>
          <a:xfrm>
            <a:off x="1429043" y="3653481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800"/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C5A7C87F-4D71-FBE9-9EDE-F38C67B4AB9F}"/>
              </a:ext>
            </a:extLst>
          </p:cNvPr>
          <p:cNvSpPr txBox="1"/>
          <p:nvPr/>
        </p:nvSpPr>
        <p:spPr>
          <a:xfrm>
            <a:off x="1438688" y="4014328"/>
            <a:ext cx="4585708" cy="8985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>
                <a:solidFill>
                  <a:srgbClr val="1A0B2E"/>
                </a:solidFill>
                <a:latin typeface="Calibri"/>
                <a:ea typeface="Calibri"/>
                <a:cs typeface="Calibri"/>
              </a:rPr>
              <a:t>SPOOF_HEADER: X-Forwarded-Host sent. POISON_WRITE: spoofed response stored in the cache. POISONED_HIT: a clean request served the spoofed content.</a:t>
            </a:r>
            <a:endParaRPr lang="en-US" sz="1600">
              <a:ea typeface="Calibri"/>
              <a:cs typeface="Calibri"/>
            </a:endParaRPr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4A097782-0CD9-F532-65EC-54A0E7EA5C80}"/>
              </a:ext>
            </a:extLst>
          </p:cNvPr>
          <p:cNvSpPr txBox="1"/>
          <p:nvPr/>
        </p:nvSpPr>
        <p:spPr>
          <a:xfrm>
            <a:off x="1378243" y="525400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1A0B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80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299AB4E0-11F3-098B-B4DD-8612B608042B}"/>
              </a:ext>
            </a:extLst>
          </p:cNvPr>
          <p:cNvSpPr txBox="1"/>
          <p:nvPr/>
        </p:nvSpPr>
        <p:spPr>
          <a:xfrm>
            <a:off x="1330016" y="5620353"/>
            <a:ext cx="5087458" cy="613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>
                <a:solidFill>
                  <a:srgbClr val="1A0B2E"/>
                </a:solidFill>
                <a:latin typeface="Calibri"/>
                <a:ea typeface="Calibri"/>
                <a:cs typeface="Calibri"/>
              </a:rPr>
              <a:t>CLEAN (0), SUSPICIOUS (2), COMPROMISED (1). --follow mode watches the log live.</a:t>
            </a:r>
            <a:endParaRPr lang="en-US" sz="1600">
              <a:latin typeface="Calibri"/>
              <a:ea typeface="Calibri"/>
              <a:cs typeface="Calibri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CB8EB0-E318-88E5-36C0-022C71C3F884}"/>
              </a:ext>
            </a:extLst>
          </p:cNvPr>
          <p:cNvSpPr/>
          <p:nvPr/>
        </p:nvSpPr>
        <p:spPr>
          <a:xfrm>
            <a:off x="860578" y="3712687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 4">
            <a:extLst>
              <a:ext uri="{FF2B5EF4-FFF2-40B4-BE49-F238E27FC236}">
                <a16:creationId xmlns:a16="http://schemas.microsoft.com/office/drawing/2014/main" id="{6E983E57-1E65-1C47-8A07-44499D6739D1}"/>
              </a:ext>
            </a:extLst>
          </p:cNvPr>
          <p:cNvSpPr txBox="1"/>
          <p:nvPr/>
        </p:nvSpPr>
        <p:spPr>
          <a:xfrm>
            <a:off x="885932" y="3714183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</a:t>
            </a:r>
            <a:endParaRPr lang="en-US" sz="160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8E14BE95-4E7B-8674-7F9D-1A1F763AE35C}"/>
              </a:ext>
            </a:extLst>
          </p:cNvPr>
          <p:cNvSpPr/>
          <p:nvPr/>
        </p:nvSpPr>
        <p:spPr>
          <a:xfrm>
            <a:off x="7679956" y="4072702"/>
            <a:ext cx="2675879" cy="855826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CD2194-EC5F-9223-418E-4F38AF939635}"/>
              </a:ext>
            </a:extLst>
          </p:cNvPr>
          <p:cNvSpPr/>
          <p:nvPr/>
        </p:nvSpPr>
        <p:spPr>
          <a:xfrm>
            <a:off x="870223" y="5323497"/>
            <a:ext cx="462219" cy="458104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 4">
            <a:extLst>
              <a:ext uri="{FF2B5EF4-FFF2-40B4-BE49-F238E27FC236}">
                <a16:creationId xmlns:a16="http://schemas.microsoft.com/office/drawing/2014/main" id="{51CCD7FA-B1D6-45B9-29BB-325831D23ADF}"/>
              </a:ext>
            </a:extLst>
          </p:cNvPr>
          <p:cNvSpPr txBox="1"/>
          <p:nvPr/>
        </p:nvSpPr>
        <p:spPr>
          <a:xfrm>
            <a:off x="885931" y="532499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3.</a:t>
            </a:r>
            <a:endParaRPr lang="en-US" sz="1600"/>
          </a:p>
        </p:txBody>
      </p:sp>
      <p:sp>
        <p:nvSpPr>
          <p:cNvPr id="10" name="Text 17">
            <a:extLst>
              <a:ext uri="{FF2B5EF4-FFF2-40B4-BE49-F238E27FC236}">
                <a16:creationId xmlns:a16="http://schemas.microsoft.com/office/drawing/2014/main" id="{28D3E537-F5C1-0309-FAFB-C339471A83CC}"/>
              </a:ext>
            </a:extLst>
          </p:cNvPr>
          <p:cNvSpPr txBox="1"/>
          <p:nvPr/>
        </p:nvSpPr>
        <p:spPr>
          <a:xfrm>
            <a:off x="8535510" y="2148147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Attack trace</a:t>
            </a:r>
            <a:endParaRPr lang="en-US" sz="180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7642C9A-9151-2734-AB80-8532940A8C21}"/>
              </a:ext>
            </a:extLst>
          </p:cNvPr>
          <p:cNvSpPr/>
          <p:nvPr/>
        </p:nvSpPr>
        <p:spPr>
          <a:xfrm>
            <a:off x="8210461" y="5432726"/>
            <a:ext cx="1585930" cy="79795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7CCAB4B-0F69-806B-5A72-82CB18556DD0}"/>
              </a:ext>
            </a:extLst>
          </p:cNvPr>
          <p:cNvSpPr txBox="1"/>
          <p:nvPr/>
        </p:nvSpPr>
        <p:spPr>
          <a:xfrm>
            <a:off x="7654198" y="2767702"/>
            <a:ext cx="3119136" cy="7232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500" b="1" i="0" u="none" strike="noStrike" baseline="0">
                <a:solidFill>
                  <a:srgbClr val="FF6B6B"/>
                </a:solidFill>
                <a:latin typeface="Calibri"/>
                <a:ea typeface="Segoe UI"/>
                <a:cs typeface="Segoe UI"/>
              </a:rPr>
              <a:t>Attacker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300" b="0" i="0" u="none" strike="noStrike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X-Forwarded-Host: evil-attacker.com</a:t>
            </a:r>
            <a:r>
              <a:rPr lang="en-US" sz="13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300" b="0" i="0" u="none" strike="noStrike" baseline="0">
                <a:solidFill>
                  <a:srgbClr val="D9C4F0"/>
                </a:solidFill>
                <a:latin typeface="Calibri"/>
                <a:ea typeface="Segoe UI"/>
                <a:cs typeface="Segoe UI"/>
              </a:rPr>
              <a:t>MISS, SPOOF_HEADER +POISON_WRITE</a:t>
            </a:r>
            <a:r>
              <a:rPr lang="en-US" sz="12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B0B0A68-A573-7E31-6D2D-E274C8E4DFE8}"/>
              </a:ext>
            </a:extLst>
          </p:cNvPr>
          <p:cNvSpPr txBox="1"/>
          <p:nvPr/>
        </p:nvSpPr>
        <p:spPr>
          <a:xfrm>
            <a:off x="7697167" y="4144825"/>
            <a:ext cx="2893669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500" b="1" i="0" u="none" strike="noStrike" baseline="0">
                <a:solidFill>
                  <a:srgbClr val="2BC4D6"/>
                </a:solidFill>
                <a:latin typeface="Calibri"/>
                <a:ea typeface="Segoe UI"/>
                <a:cs typeface="Segoe UI"/>
              </a:rPr>
              <a:t>Cache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300" b="0" i="0" u="none" strike="noStrike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/forgot-password stored with evil link</a:t>
            </a:r>
            <a:r>
              <a:rPr lang="en-US" sz="13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200" b="0" i="0" u="none" strike="noStrike" baseline="0">
                <a:solidFill>
                  <a:srgbClr val="D9C4F0"/>
                </a:solidFill>
                <a:latin typeface="Calibri"/>
                <a:ea typeface="Segoe UI"/>
                <a:cs typeface="Segoe UI"/>
              </a:rPr>
              <a:t>key = path only</a:t>
            </a:r>
            <a:r>
              <a:rPr lang="en-US" sz="12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89ED92A-B1CA-ABFC-9192-8D1277C6EB5E}"/>
              </a:ext>
            </a:extLst>
          </p:cNvPr>
          <p:cNvSpPr txBox="1"/>
          <p:nvPr/>
        </p:nvSpPr>
        <p:spPr>
          <a:xfrm>
            <a:off x="8295190" y="5485560"/>
            <a:ext cx="1774785" cy="70788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 rtl="0"/>
            <a:r>
              <a:rPr lang="en-US" sz="1500" b="1" i="0" u="none" strike="noStrike" baseline="0">
                <a:solidFill>
                  <a:srgbClr val="FF6B6B"/>
                </a:solidFill>
                <a:latin typeface="Calibri"/>
                <a:ea typeface="Segoe UI"/>
                <a:cs typeface="Segoe UI"/>
              </a:rPr>
              <a:t>Normal user</a:t>
            </a:r>
            <a:r>
              <a:rPr lang="en-US" sz="15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300" b="0" i="0" u="none" strike="noStrike" baseline="0">
                <a:solidFill>
                  <a:srgbClr val="FFFFFF"/>
                </a:solidFill>
                <a:latin typeface="Calibri"/>
                <a:ea typeface="Segoe UI"/>
                <a:cs typeface="Segoe UI"/>
              </a:rPr>
              <a:t>No special header</a:t>
            </a:r>
            <a:r>
              <a:rPr lang="en-US" sz="13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200" b="0" i="0" u="none" strike="noStrike" baseline="0">
                <a:solidFill>
                  <a:srgbClr val="D9C4F0"/>
                </a:solidFill>
                <a:latin typeface="Calibri"/>
                <a:ea typeface="Segoe UI"/>
                <a:cs typeface="Segoe UI"/>
              </a:rPr>
              <a:t>HIT, POISONED_HIT</a:t>
            </a:r>
            <a:r>
              <a:rPr lang="en-US" sz="1200" b="0" i="0">
                <a:solidFill>
                  <a:srgbClr val="000000"/>
                </a:solidFill>
                <a:latin typeface="Calibri"/>
                <a:ea typeface="Segoe UI"/>
                <a:cs typeface="Segoe UI"/>
              </a:rPr>
              <a:t>​</a:t>
            </a:r>
          </a:p>
        </p:txBody>
      </p:sp>
      <p:sp>
        <p:nvSpPr>
          <p:cNvPr id="29" name="Arrow: Left 28">
            <a:extLst>
              <a:ext uri="{FF2B5EF4-FFF2-40B4-BE49-F238E27FC236}">
                <a16:creationId xmlns:a16="http://schemas.microsoft.com/office/drawing/2014/main" id="{F2AC4ECD-C965-FCA2-F6A8-7580AF8EF6EA}"/>
              </a:ext>
            </a:extLst>
          </p:cNvPr>
          <p:cNvSpPr/>
          <p:nvPr/>
        </p:nvSpPr>
        <p:spPr>
          <a:xfrm rot="16200000">
            <a:off x="8806404" y="3744535"/>
            <a:ext cx="318303" cy="241137"/>
          </a:xfrm>
          <a:prstGeom prst="leftArrow">
            <a:avLst/>
          </a:pr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Arrow: Left 29">
            <a:extLst>
              <a:ext uri="{FF2B5EF4-FFF2-40B4-BE49-F238E27FC236}">
                <a16:creationId xmlns:a16="http://schemas.microsoft.com/office/drawing/2014/main" id="{A6FB42B5-8666-C3D2-2B1B-F42100AAF19C}"/>
              </a:ext>
            </a:extLst>
          </p:cNvPr>
          <p:cNvSpPr/>
          <p:nvPr/>
        </p:nvSpPr>
        <p:spPr>
          <a:xfrm rot="16200000">
            <a:off x="8777467" y="5046686"/>
            <a:ext cx="318303" cy="241137"/>
          </a:xfrm>
          <a:prstGeom prst="leftArrow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8232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EF2087-A3D2-8634-1ABF-D4DD16BF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588723"/>
            <a:ext cx="10131425" cy="1456267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Detection and Tracing</a:t>
            </a:r>
            <a:endParaRPr lang="en-US" sz="4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E755393-21D2-0EA4-5F6A-A4AE6CA311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3834" y="2424202"/>
            <a:ext cx="8983756" cy="371923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6932A9-1882-1C97-F449-8810453E8C2E}"/>
              </a:ext>
            </a:extLst>
          </p:cNvPr>
          <p:cNvSpPr txBox="1"/>
          <p:nvPr/>
        </p:nvSpPr>
        <p:spPr>
          <a:xfrm>
            <a:off x="683443" y="1984014"/>
            <a:ext cx="60960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0" i="1" u="none" strike="noStrike" baseline="0" dirty="0">
                <a:latin typeface="Calibri"/>
              </a:rPr>
              <a:t>wcp_detector.py verdict on the vulnerable run</a:t>
            </a:r>
            <a:r>
              <a:rPr sz="1600" b="0" i="0" dirty="0">
                <a:latin typeface="Calibri"/>
                <a:ea typeface="Calibri"/>
                <a:cs typeface="Calibri"/>
              </a:rPr>
              <a:t>​</a:t>
            </a:r>
            <a:endParaRPr lang="en-US" sz="1600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7658011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A56424-8ED3-0665-19B8-106E54986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F6424-C7CA-AF37-682B-8DB98D7C68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909" y="808055"/>
            <a:ext cx="5270091" cy="1453363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Mitigation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C495AC-7E16-2DDA-BEA1-551E4E50CB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3054" y="2094406"/>
            <a:ext cx="5610443" cy="3804949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1600" b="1">
                <a:ea typeface="+mn-lt"/>
                <a:cs typeface="+mn-lt"/>
              </a:rPr>
              <a:t>1. Host Validation</a:t>
            </a:r>
            <a:endParaRPr lang="en-US" sz="1600">
              <a:ea typeface="Calibri" panose="020F0502020204030204"/>
              <a:cs typeface="Calibri" panose="020F0502020204030204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Checks </a:t>
            </a:r>
            <a:r>
              <a:rPr lang="en-US" sz="1600" err="1">
                <a:latin typeface="Consolas"/>
              </a:rPr>
              <a:t>request.host</a:t>
            </a:r>
            <a:r>
              <a:rPr lang="en-US" sz="1600">
                <a:ea typeface="+mn-lt"/>
                <a:cs typeface="+mn-lt"/>
              </a:rPr>
              <a:t> against the </a:t>
            </a:r>
            <a:r>
              <a:rPr lang="en-US" sz="1600">
                <a:latin typeface="Consolas"/>
              </a:rPr>
              <a:t>ALLOWED_HOSTS</a:t>
            </a:r>
            <a:r>
              <a:rPr lang="en-US" sz="1600">
                <a:ea typeface="+mn-lt"/>
                <a:cs typeface="+mn-lt"/>
              </a:rPr>
              <a:t> list.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Rejects any untrusted host.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Prevents attackers from changing the Host header.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>
                <a:ea typeface="+mn-lt"/>
                <a:cs typeface="+mn-lt"/>
              </a:rPr>
              <a:t>2. Cache Key Protection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Uses </a:t>
            </a:r>
            <a:r>
              <a:rPr lang="en-US" sz="1600">
                <a:latin typeface="Consolas"/>
              </a:rPr>
              <a:t>(</a:t>
            </a:r>
            <a:r>
              <a:rPr lang="en-US" sz="1600" err="1">
                <a:latin typeface="Consolas"/>
              </a:rPr>
              <a:t>request.path</a:t>
            </a:r>
            <a:r>
              <a:rPr lang="en-US" sz="1600">
                <a:latin typeface="Consolas"/>
              </a:rPr>
              <a:t>, host)</a:t>
            </a:r>
            <a:r>
              <a:rPr lang="en-US" sz="1600">
                <a:ea typeface="+mn-lt"/>
                <a:cs typeface="+mn-lt"/>
              </a:rPr>
              <a:t> as the cache key.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Keeps cache entries for different hosts separate.</a:t>
            </a:r>
            <a:endParaRPr lang="en-US" sz="1600">
              <a:ea typeface="Calibri"/>
              <a:cs typeface="Calibri"/>
            </a:endParaRPr>
          </a:p>
          <a:p>
            <a:pPr marL="0" indent="0">
              <a:lnSpc>
                <a:spcPct val="90000"/>
              </a:lnSpc>
              <a:buClr>
                <a:srgbClr val="FFFFFF"/>
              </a:buClr>
              <a:buNone/>
            </a:pPr>
            <a:r>
              <a:rPr lang="en-US" sz="1600" b="1">
                <a:ea typeface="+mn-lt"/>
                <a:cs typeface="+mn-lt"/>
              </a:rPr>
              <a:t>3. Two Layers of Protection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Host validation blocks untrusted hosts.</a:t>
            </a:r>
            <a:endParaRPr lang="en-US" sz="1600">
              <a:ea typeface="Calibri"/>
              <a:cs typeface="Calibri"/>
            </a:endParaRPr>
          </a:p>
          <a:p>
            <a:pPr marL="514350">
              <a:lnSpc>
                <a:spcPct val="90000"/>
              </a:lnSpc>
              <a:buClr>
                <a:srgbClr val="FFFFFF"/>
              </a:buClr>
            </a:pPr>
            <a:r>
              <a:rPr lang="en-US" sz="1600">
                <a:ea typeface="+mn-lt"/>
                <a:cs typeface="+mn-lt"/>
              </a:rPr>
              <a:t>The host-based cache key prevents different hosts from sharing cached responses.</a:t>
            </a:r>
            <a:endParaRPr lang="en-US" sz="1600">
              <a:ea typeface="Calibri"/>
              <a:cs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2A90C8D-219F-E527-16B5-44629B105D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7533" y="2094685"/>
            <a:ext cx="5458855" cy="3560678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7814132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9359B-EFF2-F4D8-BE88-31500A6BB7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033" y="808055"/>
            <a:ext cx="7277724" cy="1442925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Running the Mitigated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225EFD-EC10-EB80-9A60-999CF4C2E6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178" y="2146598"/>
            <a:ext cx="4002936" cy="3637935"/>
          </a:xfrm>
        </p:spPr>
        <p:txBody>
          <a:bodyPr>
            <a:normAutofit/>
          </a:bodyPr>
          <a:lstStyle/>
          <a:p>
            <a:r>
              <a:rPr lang="en-US">
                <a:ea typeface="+mn-lt"/>
                <a:cs typeface="+mn-lt"/>
              </a:rPr>
              <a:t>Run using: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latin typeface="Calibri"/>
                <a:ea typeface="Calibri"/>
                <a:cs typeface="Calibri"/>
              </a:rPr>
              <a:t> python .\app_mitigated.py</a:t>
            </a: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Flask starts on:</a:t>
            </a:r>
          </a:p>
          <a:p>
            <a:pPr marL="0" indent="0">
              <a:buClr>
                <a:srgbClr val="FFFFFF"/>
              </a:buClr>
              <a:buNone/>
            </a:pPr>
            <a:r>
              <a:rPr lang="en-US">
                <a:latin typeface="Calibri"/>
                <a:ea typeface="Calibri"/>
                <a:cs typeface="Calibri"/>
                <a:hlinkClick r:id="" action="ppaction://noaction"/>
              </a:rPr>
              <a:t> http://127.0.0.1:5000</a:t>
            </a:r>
            <a:endParaRPr lang="en-US">
              <a:latin typeface="Calibri"/>
              <a:ea typeface="Calibri"/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Test the </a:t>
            </a:r>
            <a:r>
              <a:rPr lang="en-US">
                <a:latin typeface="Calibri"/>
                <a:ea typeface="Calibri"/>
                <a:cs typeface="Calibri"/>
              </a:rPr>
              <a:t>/forgot-password</a:t>
            </a:r>
            <a:r>
              <a:rPr lang="en-US">
                <a:ea typeface="+mn-lt"/>
                <a:cs typeface="+mn-lt"/>
              </a:rPr>
              <a:t> endpoint.</a:t>
            </a: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A </a:t>
            </a:r>
            <a:r>
              <a:rPr lang="en-US">
                <a:latin typeface="Calibri"/>
                <a:ea typeface="Calibri"/>
                <a:cs typeface="Calibri"/>
              </a:rPr>
              <a:t>200</a:t>
            </a:r>
            <a:r>
              <a:rPr lang="en-US">
                <a:ea typeface="+mn-lt"/>
                <a:cs typeface="+mn-lt"/>
              </a:rPr>
              <a:t> status confirms that the endpoint is working correctly.</a:t>
            </a:r>
          </a:p>
          <a:p>
            <a:pPr>
              <a:buClr>
                <a:srgbClr val="FFFFFF"/>
              </a:buClr>
            </a:pPr>
            <a:r>
              <a:rPr lang="en-US">
                <a:ea typeface="+mn-lt"/>
                <a:cs typeface="+mn-lt"/>
              </a:rPr>
              <a:t>The application still supports cache hits while keeping different hosts separate.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6DB7DBC-39A4-537A-75BC-04571B4178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4090" y="2855757"/>
            <a:ext cx="7116464" cy="1796964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80795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2AA08-540F-CD9B-84CE-8C056543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0FE7-1B45-28A1-EB31-4998387C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Verification of Mitigation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0666020-FC10-583D-0AED-684CC1671534}"/>
              </a:ext>
            </a:extLst>
          </p:cNvPr>
          <p:cNvSpPr txBox="1"/>
          <p:nvPr/>
        </p:nvSpPr>
        <p:spPr>
          <a:xfrm>
            <a:off x="568178" y="1718993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Arial"/>
              <a:buChar char="•"/>
            </a:pPr>
            <a:r>
              <a:rPr lang="en-US" sz="1600">
                <a:latin typeface="Calibri"/>
                <a:ea typeface="Calibri"/>
                <a:cs typeface="Calibri"/>
              </a:rPr>
              <a:t>Same exploit, same detector, run with --app pointing at the mitigated file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0F188F89-15D0-09AB-155D-98EE44498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8123498"/>
              </p:ext>
            </p:extLst>
          </p:nvPr>
        </p:nvGraphicFramePr>
        <p:xfrm>
          <a:off x="699319" y="2355171"/>
          <a:ext cx="5675576" cy="4047744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015808">
                  <a:extLst>
                    <a:ext uri="{9D8B030D-6E8A-4147-A177-3AD203B41FA5}">
                      <a16:colId xmlns:a16="http://schemas.microsoft.com/office/drawing/2014/main" val="1567439091"/>
                    </a:ext>
                  </a:extLst>
                </a:gridCol>
                <a:gridCol w="1829884">
                  <a:extLst>
                    <a:ext uri="{9D8B030D-6E8A-4147-A177-3AD203B41FA5}">
                      <a16:colId xmlns:a16="http://schemas.microsoft.com/office/drawing/2014/main" val="2842093845"/>
                    </a:ext>
                  </a:extLst>
                </a:gridCol>
                <a:gridCol w="1829884">
                  <a:extLst>
                    <a:ext uri="{9D8B030D-6E8A-4147-A177-3AD203B41FA5}">
                      <a16:colId xmlns:a16="http://schemas.microsoft.com/office/drawing/2014/main" val="2365777694"/>
                    </a:ext>
                  </a:extLst>
                </a:gridCol>
              </a:tblGrid>
              <a:tr h="356613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Step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Vulnerable app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Mitigated app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3DB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19073863"/>
                  </a:ext>
                </a:extLst>
              </a:tr>
              <a:tr h="802378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Attacker sends X-Forwarded-Host: evil-attacker.com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Reset link points to evil-attacker.com (MISS)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Header ignored, link uses the real host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53058669"/>
                  </a:ext>
                </a:extLst>
              </a:tr>
              <a:tr h="57949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Spoofed Host header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Accepted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400 Invalid Host header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331863"/>
                  </a:ext>
                </a:extLst>
              </a:tr>
              <a:tr h="57949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Normal user, no header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HIT, gets attacker's link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HIT, gets the genuine link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3598425"/>
                  </a:ext>
                </a:extLst>
              </a:tr>
              <a:tr h="579495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exploit.py result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EXPLOIT SUCCEEDED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Does not succeed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C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8520141"/>
                  </a:ext>
                </a:extLst>
              </a:tr>
              <a:tr h="802378"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1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wcp_detector.py verdict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COMPROMISED (POISON_WRITE + POISONED_HIT)</a:t>
                      </a:r>
                      <a:endParaRPr lang="en-US" sz="1600" b="0" i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fontAlgn="base">
                        <a:buNone/>
                      </a:pPr>
                      <a:r>
                        <a:rPr lang="en-US" sz="1600" b="0" i="0" dirty="0">
                          <a:solidFill>
                            <a:srgbClr val="1A0B2E"/>
                          </a:solidFill>
                          <a:effectLst/>
                          <a:latin typeface="Calibri"/>
                        </a:rPr>
                        <a:t>No POISON_WRITE or POISONED_HIT</a:t>
                      </a:r>
                      <a:endParaRPr lang="en-US" sz="1600" b="0" i="0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109728" marR="109728" marT="73152" marB="73152" anchor="ctr">
                    <a:lnL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4126" cap="flat" cmpd="sng" algn="ctr">
                      <a:solidFill>
                        <a:srgbClr val="7A2A9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E8BD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177052"/>
                  </a:ext>
                </a:extLst>
              </a:tr>
            </a:tbl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E6AC5EC2-BA2E-23E6-7996-7416BC3CB5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5542" y="2349520"/>
            <a:ext cx="5229225" cy="122872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0F2ECD-A9D1-7A0A-F854-54F9BD803E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4306" y="4088946"/>
            <a:ext cx="4657725" cy="238125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7CED035-1E4A-BD05-5F4A-68B70DDE9F82}"/>
              </a:ext>
            </a:extLst>
          </p:cNvPr>
          <p:cNvSpPr txBox="1"/>
          <p:nvPr/>
        </p:nvSpPr>
        <p:spPr>
          <a:xfrm>
            <a:off x="6897584" y="1974273"/>
            <a:ext cx="6096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1" u="none" strike="noStrike" baseline="0">
                <a:solidFill>
                  <a:srgbClr val="FFFFFF"/>
                </a:solidFill>
                <a:latin typeface="Calibri"/>
              </a:rPr>
              <a:t>exploit.py against the mitigated app</a:t>
            </a:r>
            <a:endParaRPr lang="en-US" sz="1400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6FAB94-B459-5571-0B9E-B31A9FD61B96}"/>
              </a:ext>
            </a:extLst>
          </p:cNvPr>
          <p:cNvSpPr txBox="1"/>
          <p:nvPr/>
        </p:nvSpPr>
        <p:spPr>
          <a:xfrm>
            <a:off x="6897584" y="3656610"/>
            <a:ext cx="6096000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0" i="1" u="none" strike="noStrike" baseline="0">
                <a:solidFill>
                  <a:srgbClr val="FFFFFF"/>
                </a:solidFill>
                <a:latin typeface="Calibri"/>
              </a:rPr>
              <a:t>wcp_detector.py on the mitigated run</a:t>
            </a:r>
            <a:r>
              <a:rPr lang="en-US" sz="1400" b="0" i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​</a:t>
            </a:r>
            <a:endParaRPr lang="en-US">
              <a:solidFill>
                <a:srgbClr val="FFFFFF"/>
              </a:solidFill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72260894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316556-32DC-2049-144B-C16583BC5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752B0-F0F4-C128-C7F3-7B2FF339D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solidFill>
                  <a:srgbClr val="FFFFFF"/>
                </a:solidFill>
                <a:latin typeface="+mn-lt"/>
                <a:ea typeface="Calibri Light"/>
                <a:cs typeface="Calibri Light"/>
              </a:rPr>
              <a:t>Discussion of mitigation Strategies and Security recommendation</a:t>
            </a:r>
            <a:endParaRPr lang="en-US" sz="4000" b="1" dirty="0">
              <a:latin typeface="+mn-lt"/>
              <a:ea typeface="Calibri Light"/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7D9960-81D7-0673-2BB3-33A26D439A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     </a:t>
            </a:r>
            <a:r>
              <a:rPr lang="en-US" sz="2400" b="1" dirty="0">
                <a:ea typeface="+mn-lt"/>
                <a:cs typeface="+mn-lt"/>
              </a:rPr>
              <a:t>DEFENCE IN DEPTH</a:t>
            </a: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Both attacks use the same idea: use multiple security checks instead of relying on one check.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For Path Traversal, validate and clean the filename and make sure the final file is inside the allowed folder.</a:t>
            </a: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For Web Cache Poisoning, do not trust user-controlled information and make sure important request details are included in the cache key.</a:t>
            </a:r>
          </a:p>
          <a:p>
            <a:pPr>
              <a:buClr>
                <a:srgbClr val="FFFFFF"/>
              </a:buClr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993340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3E21A-9CFD-BC59-A8F5-BA0F781A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+mn-lt"/>
                <a:ea typeface="Calibri Light"/>
                <a:cs typeface="Calibri Light"/>
              </a:rPr>
              <a:t>SECURITY RECOMMENDATIONS</a:t>
            </a:r>
            <a:r>
              <a:rPr lang="en-US" sz="4000" dirty="0">
                <a:latin typeface="+mn-lt"/>
                <a:ea typeface="Calibri Light"/>
                <a:cs typeface="Calibri Light"/>
              </a:rPr>
              <a:t> </a:t>
            </a:r>
            <a:endParaRPr lang="en-US" sz="4000" dirty="0"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B8D838-C205-8209-B312-E83DF5E633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a typeface="+mn-lt"/>
                <a:cs typeface="+mn-lt"/>
              </a:rPr>
              <a:t>Do not trust user input when deciding file paths, URLs or cache keys.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Treat caches, proxies and CDNs as part of the security risk.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Use more than one security check so another check can stop an attack if one is bypassed.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Test the original attack again after applying the fix.</a:t>
            </a:r>
            <a:endParaRPr lang="en-US" dirty="0"/>
          </a:p>
          <a:p>
            <a:pPr>
              <a:buClr>
                <a:srgbClr val="FFFFFF"/>
              </a:buClr>
            </a:pPr>
            <a:r>
              <a:rPr lang="en-US" dirty="0">
                <a:ea typeface="+mn-lt"/>
                <a:cs typeface="+mn-lt"/>
              </a:rPr>
              <a:t>Keep useful request details in logs to help identify attacks.</a:t>
            </a:r>
            <a:endParaRPr lang="en-US" dirty="0"/>
          </a:p>
          <a:p>
            <a:pPr marL="0" indent="0">
              <a:buClr>
                <a:srgbClr val="FFFFFF"/>
              </a:buClr>
              <a:buNone/>
            </a:pPr>
            <a:endParaRPr lang="en-US" dirty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2723370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2E9A63-1192-F80B-B565-9BD604ED85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Conclusion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3FF2E7E1-D4AE-4BD6-8DEB-360CEFB5EA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1710058"/>
            <a:ext cx="10131425" cy="764389"/>
          </a:xfrm>
        </p:spPr>
        <p:txBody>
          <a:bodyPr>
            <a:normAutofit/>
          </a:bodyPr>
          <a:lstStyle/>
          <a:p>
            <a:r>
              <a:rPr lang="en-US" sz="1600">
                <a:ea typeface="Calibri"/>
                <a:cs typeface="Calibri"/>
              </a:rPr>
              <a:t>Both vulnerabilities show how unsafe handling of user controlled input can cross an application's security boundaries.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5313D79-F5DD-15FA-2A3B-37A2E503D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2301449"/>
              </p:ext>
            </p:extLst>
          </p:nvPr>
        </p:nvGraphicFramePr>
        <p:xfrm>
          <a:off x="832146" y="2684787"/>
          <a:ext cx="10217473" cy="22443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59448">
                  <a:extLst>
                    <a:ext uri="{9D8B030D-6E8A-4147-A177-3AD203B41FA5}">
                      <a16:colId xmlns:a16="http://schemas.microsoft.com/office/drawing/2014/main" val="2900124684"/>
                    </a:ext>
                  </a:extLst>
                </a:gridCol>
                <a:gridCol w="3613897">
                  <a:extLst>
                    <a:ext uri="{9D8B030D-6E8A-4147-A177-3AD203B41FA5}">
                      <a16:colId xmlns:a16="http://schemas.microsoft.com/office/drawing/2014/main" val="1001210217"/>
                    </a:ext>
                  </a:extLst>
                </a:gridCol>
                <a:gridCol w="3844128">
                  <a:extLst>
                    <a:ext uri="{9D8B030D-6E8A-4147-A177-3AD203B41FA5}">
                      <a16:colId xmlns:a16="http://schemas.microsoft.com/office/drawing/2014/main" val="1736865302"/>
                    </a:ext>
                  </a:extLst>
                </a:gridCol>
              </a:tblGrid>
              <a:tr h="454892">
                <a:tc>
                  <a:txBody>
                    <a:bodyPr/>
                    <a:lstStyle/>
                    <a:p>
                      <a:r>
                        <a:rPr lang="en-US"/>
                        <a:t>Vulnerability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Demonstrated attack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Mitigation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30411828"/>
                  </a:ext>
                </a:extLst>
              </a:tr>
              <a:tr h="966507">
                <a:tc>
                  <a:txBody>
                    <a:bodyPr/>
                    <a:lstStyle/>
                    <a:p>
                      <a:r>
                        <a:rPr lang="en-US" sz="1600"/>
                        <a:t>Path Traversal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00" b="0" i="0" u="none" strike="noStrike" noProof="0"/>
                        <a:t>Read a test file outside the website’s allowed folder.</a:t>
                      </a: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>
                        <a:buNone/>
                      </a:pPr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Check the filename and make sure the file stays inside the website’s allowed folder.</a:t>
                      </a:r>
                      <a:endParaRPr lang="en-US" sz="16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6546509"/>
                  </a:ext>
                </a:extLst>
              </a:tr>
              <a:tr h="454892">
                <a:tc>
                  <a:txBody>
                    <a:bodyPr/>
                    <a:lstStyle/>
                    <a:p>
                      <a:r>
                        <a:rPr lang="en-US" sz="1600"/>
                        <a:t>Web Cache Poisoning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i="0" u="none" strike="noStrike" noProof="0">
                          <a:latin typeface="Calibri"/>
                          <a:ea typeface="Calibri"/>
                          <a:cs typeface="Calibri"/>
                        </a:rPr>
                        <a:t>A normal user receives the attacker’s reset link stored in the cache.</a:t>
                      </a:r>
                      <a:endParaRPr lang="en-US"/>
                    </a:p>
                    <a:p>
                      <a:pPr lvl="0">
                        <a:buNone/>
                      </a:pPr>
                      <a:endParaRPr lang="en-US" sz="16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Ignore the forwarded host, validate host and include it in the cache key.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190367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9C5B07A1-45CD-3226-A829-7B0D16D3757C}"/>
              </a:ext>
            </a:extLst>
          </p:cNvPr>
          <p:cNvSpPr txBox="1"/>
          <p:nvPr/>
        </p:nvSpPr>
        <p:spPr>
          <a:xfrm>
            <a:off x="688932" y="5203521"/>
            <a:ext cx="10208712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 algn="l" rtl="0">
              <a:buFont typeface="Arial"/>
              <a:buChar char="•"/>
            </a:pPr>
            <a:r>
              <a:rPr lang="en-US" sz="1600" kern="12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The project shows why security belongs in every stage of development. Checking user input and testing fixes help protect the application while keeping it usable</a:t>
            </a:r>
            <a:r>
              <a:rPr lang="en-US" sz="160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3095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AE7082-F749-FD34-57E1-4CDBCE079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24DA3-8075-E5A5-E337-E7C2DEDF8F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Calibri"/>
                <a:ea typeface="Calibri"/>
                <a:cs typeface="Calibri"/>
              </a:rPr>
              <a:t>References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54B0AD5-DD62-303D-2316-4185F1CD7B5F}"/>
              </a:ext>
            </a:extLst>
          </p:cNvPr>
          <p:cNvSpPr txBox="1"/>
          <p:nvPr/>
        </p:nvSpPr>
        <p:spPr>
          <a:xfrm>
            <a:off x="680734" y="2779754"/>
            <a:ext cx="7471774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US">
              <a:ea typeface="+mn-lt"/>
              <a:cs typeface="+mn-lt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5B3129-42F2-9524-8C31-E6CD83AE06F1}"/>
              </a:ext>
            </a:extLst>
          </p:cNvPr>
          <p:cNvSpPr txBox="1"/>
          <p:nvPr/>
        </p:nvSpPr>
        <p:spPr>
          <a:xfrm>
            <a:off x="684034" y="1950081"/>
            <a:ext cx="769097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[1] OWSAP Top 10.2021: A01:2021 - Broken Access Control. Available at: </a:t>
            </a:r>
            <a:r>
              <a:rPr lang="en-US" sz="1600">
                <a:ea typeface="+mn-lt"/>
                <a:cs typeface="+mn-lt"/>
                <a:hlinkClick r:id="rId2"/>
              </a:rPr>
              <a:t>https://top10.owasp.org/2021/A01_2021-Broken_Access_Control/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6045AE3-2464-7D1A-560C-1FD262E0A988}"/>
              </a:ext>
            </a:extLst>
          </p:cNvPr>
          <p:cNvSpPr txBox="1"/>
          <p:nvPr/>
        </p:nvSpPr>
        <p:spPr>
          <a:xfrm>
            <a:off x="690762" y="2535121"/>
            <a:ext cx="103214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[2] OWASP. WSTG-INPV-17: Testing for Host Header Injection. Available at: </a:t>
            </a:r>
            <a:endParaRPr lang="en-US" sz="1600">
              <a:ea typeface="Calibri"/>
              <a:cs typeface="Calibri"/>
            </a:endParaRPr>
          </a:p>
          <a:p>
            <a:r>
              <a:rPr lang="en-US" sz="1600">
                <a:ea typeface="+mn-lt"/>
                <a:cs typeface="+mn-lt"/>
                <a:hlinkClick r:id="rId3"/>
              </a:rPr>
              <a:t>https://owasp.org/www-project-web-security-testing-guide/stable/4- Web_Application_Security_Testing/07-Input_Validation_Testing/17- Testing_for_Host_Header_Injection</a:t>
            </a:r>
            <a:endParaRPr lang="en-US" sz="1600">
              <a:ea typeface="+mn-lt"/>
              <a:cs typeface="+mn-lt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6136B52-B676-09A2-F2B5-D3857C9BC3E0}"/>
              </a:ext>
            </a:extLst>
          </p:cNvPr>
          <p:cNvSpPr txBox="1"/>
          <p:nvPr/>
        </p:nvSpPr>
        <p:spPr>
          <a:xfrm>
            <a:off x="690761" y="3432819"/>
            <a:ext cx="10321444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[3] SecureFlag Knowledge Base. Web Cache Poisoning. Available at: </a:t>
            </a:r>
            <a:r>
              <a:rPr lang="en-US" sz="1600">
                <a:ea typeface="+mn-lt"/>
                <a:cs typeface="+mn-lt"/>
                <a:hlinkClick r:id="rId4"/>
              </a:rPr>
              <a:t>https://knowledgebase.secureflag.com/vulnerabilities/security_misconfiguration/web_cache_poisoning _vulnerability.html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0762DB6-9468-E299-3E04-27486CCA78F6}"/>
              </a:ext>
            </a:extLst>
          </p:cNvPr>
          <p:cNvSpPr txBox="1"/>
          <p:nvPr/>
        </p:nvSpPr>
        <p:spPr>
          <a:xfrm>
            <a:off x="690761" y="4257448"/>
            <a:ext cx="1032144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[4] PortSwigger. Web Cache Poisoning. Available at: </a:t>
            </a:r>
            <a:r>
              <a:rPr lang="en-US" sz="1600">
                <a:ea typeface="+mn-lt"/>
                <a:cs typeface="+mn-lt"/>
                <a:hlinkClick r:id="rId5"/>
              </a:rPr>
              <a:t>https://portswigger.net/websecurity/web-cache-poisoning</a:t>
            </a:r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17EB272-79E1-7FD0-0E1F-0508848F0996}"/>
              </a:ext>
            </a:extLst>
          </p:cNvPr>
          <p:cNvSpPr txBox="1"/>
          <p:nvPr/>
        </p:nvSpPr>
        <p:spPr>
          <a:xfrm>
            <a:off x="690761" y="4633230"/>
            <a:ext cx="7847554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[5] PortSwigger. Web Cache Entanglement: Novel Pathways to Poisoning Web Caches. Available at:</a:t>
            </a:r>
            <a:r>
              <a:rPr lang="en-US" sz="1600">
                <a:ea typeface="+mn-lt"/>
                <a:cs typeface="+mn-lt"/>
                <a:hlinkClick r:id="rId6"/>
              </a:rPr>
              <a:t>https://portswigger.net/research/web-cache-entanglement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C8810BF-C5F0-E4CA-4E20-F296DAC18CCE}"/>
              </a:ext>
            </a:extLst>
          </p:cNvPr>
          <p:cNvSpPr txBox="1"/>
          <p:nvPr/>
        </p:nvSpPr>
        <p:spPr>
          <a:xfrm>
            <a:off x="690761" y="5238653"/>
            <a:ext cx="10321444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>
                <a:ea typeface="+mn-lt"/>
                <a:cs typeface="+mn-lt"/>
              </a:rPr>
              <a:t>[6] MITRE EMB3D. Path Traversal Protections. Available at: </a:t>
            </a:r>
            <a:r>
              <a:rPr lang="en-US" sz="1600">
                <a:ea typeface="+mn-lt"/>
                <a:cs typeface="+mn-lt"/>
                <a:hlinkClick r:id="rId7"/>
              </a:rPr>
              <a:t>https://emb3d.mitre.org/mitigations/MID-075.html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308288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Picture 20">
            <a:extLst>
              <a:ext uri="{FF2B5EF4-FFF2-40B4-BE49-F238E27FC236}">
                <a16:creationId xmlns:a16="http://schemas.microsoft.com/office/drawing/2014/main" id="{18BD78ED-75E1-4879-B369-BC61F7C45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DF43132E-D4DF-4A83-9344-A782D0F5D9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11C00B-B50F-79AC-95FA-8BAB0105B3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1875" y="1212935"/>
            <a:ext cx="6020177" cy="443213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600" b="1" dirty="0">
                <a:latin typeface="+mn-lt"/>
              </a:rPr>
              <a:t>Thank you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AA24BC1-1577-4586-AD7A-417660E372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668780"/>
            <a:ext cx="0" cy="352044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410815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2256</Words>
  <Application>Microsoft Office PowerPoint</Application>
  <PresentationFormat>Widescreen</PresentationFormat>
  <Paragraphs>344</Paragraphs>
  <Slides>30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Aptos</vt:lpstr>
      <vt:lpstr>Arial</vt:lpstr>
      <vt:lpstr>Calibri</vt:lpstr>
      <vt:lpstr>Calibri Light</vt:lpstr>
      <vt:lpstr>Consolas</vt:lpstr>
      <vt:lpstr>Celestial</vt:lpstr>
      <vt:lpstr>Path Traversal and Web Cache Poisoning </vt:lpstr>
      <vt:lpstr>Group Members and Primary Responsibilities</vt:lpstr>
      <vt:lpstr>Project timeline and Tools used</vt:lpstr>
      <vt:lpstr>Meetings</vt:lpstr>
      <vt:lpstr>Evidence of Version Control</vt:lpstr>
      <vt:lpstr>Two Vulnerabilities</vt:lpstr>
      <vt:lpstr>Vulnerability 1: Path Traversal</vt:lpstr>
      <vt:lpstr>Vulnerable Code</vt:lpstr>
      <vt:lpstr>What is Path Traversal and Why It Matters</vt:lpstr>
      <vt:lpstr>Exploitation Code</vt:lpstr>
      <vt:lpstr>Impact and Consequences</vt:lpstr>
      <vt:lpstr>Detection and Tracing</vt:lpstr>
      <vt:lpstr>Mitigation Code</vt:lpstr>
      <vt:lpstr>Running the Mitigated Code</vt:lpstr>
      <vt:lpstr>Verification of Mitigation</vt:lpstr>
      <vt:lpstr>Vulnerability 2:  WEB CACHE POISONING</vt:lpstr>
      <vt:lpstr>Vulnerable Code</vt:lpstr>
      <vt:lpstr>What is Web Cache Poisoning and Why It Matters</vt:lpstr>
      <vt:lpstr>Exploitation Code</vt:lpstr>
      <vt:lpstr>Impact and Consequences</vt:lpstr>
      <vt:lpstr>Detection and Tracing</vt:lpstr>
      <vt:lpstr>Detection and Tracing</vt:lpstr>
      <vt:lpstr>Mitigation Code</vt:lpstr>
      <vt:lpstr>Running the Mitigated Code</vt:lpstr>
      <vt:lpstr>Verification of Mitigation</vt:lpstr>
      <vt:lpstr>Discussion of mitigation Strategies and Security recommendation</vt:lpstr>
      <vt:lpstr>SECURITY RECOMMENDATIONS </vt:lpstr>
      <vt:lpstr>Conclusion</vt:lpstr>
      <vt:lpstr>References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Isuru Fernando (Student)</cp:lastModifiedBy>
  <cp:revision>6</cp:revision>
  <dcterms:created xsi:type="dcterms:W3CDTF">2026-10-03T15:12:15Z</dcterms:created>
  <dcterms:modified xsi:type="dcterms:W3CDTF">2026-10-08T15:35:25Z</dcterms:modified>
</cp:coreProperties>
</file>